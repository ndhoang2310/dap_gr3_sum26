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466cf6dd2b49df" /><Relationship Type="http://schemas.openxmlformats.org/officeDocument/2006/relationships/extended-properties" Target="/docProps/app.xml" Id="R2bdc5cf358fa4ab9" /><Relationship Type="http://schemas.openxmlformats.org/officeDocument/2006/relationships/officeDocument" Target="/ppt/presentation.xml" Id="Rf715f8224dae4c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b6f579a8724353"/>
  </p:sldMasterIdLst>
  <p:notesMasterIdLst>
    <p:notesMasterId xmlns:r="http://schemas.openxmlformats.org/officeDocument/2006/relationships" r:id="R23f8cc1aeee84e0c"/>
  </p:notesMasterIdLst>
  <p:sldIdLst>
    <p:sldId xmlns:r="http://schemas.openxmlformats.org/officeDocument/2006/relationships" id="256" r:id="Rae0b05d0b45a43f7"/>
    <p:sldId xmlns:r="http://schemas.openxmlformats.org/officeDocument/2006/relationships" id="257" r:id="R006b9b70bc9444ad"/>
    <p:sldId xmlns:r="http://schemas.openxmlformats.org/officeDocument/2006/relationships" id="258" r:id="R337fdcb9b49d481b"/>
    <p:sldId xmlns:r="http://schemas.openxmlformats.org/officeDocument/2006/relationships" id="259" r:id="R84b509f95ed343ec"/>
    <p:sldId xmlns:r="http://schemas.openxmlformats.org/officeDocument/2006/relationships" id="260" r:id="R7ac2b324f0dd40c7"/>
    <p:sldId xmlns:r="http://schemas.openxmlformats.org/officeDocument/2006/relationships" id="261" r:id="Rd715489d33f74c49"/>
    <p:sldId xmlns:r="http://schemas.openxmlformats.org/officeDocument/2006/relationships" id="262" r:id="R405e0a93c85c4408"/>
    <p:sldId xmlns:r="http://schemas.openxmlformats.org/officeDocument/2006/relationships" id="263" r:id="R823caf0b2b8740da"/>
    <p:sldId xmlns:r="http://schemas.openxmlformats.org/officeDocument/2006/relationships" id="264" r:id="R2230420c95174314"/>
    <p:sldId xmlns:r="http://schemas.openxmlformats.org/officeDocument/2006/relationships" id="265" r:id="Rc9e3e297d8a74d62"/>
    <p:sldId xmlns:r="http://schemas.openxmlformats.org/officeDocument/2006/relationships" id="266" r:id="Rde97bdad09c44901"/>
    <p:sldId xmlns:r="http://schemas.openxmlformats.org/officeDocument/2006/relationships" id="267" r:id="R22a5ad2a36b5478c"/>
    <p:sldId xmlns:r="http://schemas.openxmlformats.org/officeDocument/2006/relationships" id="268" r:id="Rb7feaf80bd3442ff"/>
    <p:sldId xmlns:r="http://schemas.openxmlformats.org/officeDocument/2006/relationships" id="269" r:id="R1e338d427b6a45fb"/>
    <p:sldId xmlns:r="http://schemas.openxmlformats.org/officeDocument/2006/relationships" id="270" r:id="R37ae4c53cc9945c4"/>
    <p:sldId xmlns:r="http://schemas.openxmlformats.org/officeDocument/2006/relationships" id="271" r:id="Rb68892e0d1dd4ee8"/>
    <p:sldId xmlns:r="http://schemas.openxmlformats.org/officeDocument/2006/relationships" id="272" r:id="R0bbef1923abe40db"/>
    <p:sldId xmlns:r="http://schemas.openxmlformats.org/officeDocument/2006/relationships" id="273" r:id="Rf0d78d00e6ab43fe"/>
    <p:sldId xmlns:r="http://schemas.openxmlformats.org/officeDocument/2006/relationships" id="274" r:id="R84fc4205f66442a5"/>
    <p:sldId xmlns:r="http://schemas.openxmlformats.org/officeDocument/2006/relationships" id="275" r:id="Ra52752f72c5c4c3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8722ed6fb34299" /><Relationship Type="http://schemas.openxmlformats.org/officeDocument/2006/relationships/slideMaster" Target="/ppt/slideMasters/slideMaster1.xml" Id="R6cb6f579a8724353" /><Relationship Type="http://schemas.openxmlformats.org/officeDocument/2006/relationships/notesMaster" Target="/ppt/notesMasters/notesMaster1.xml" Id="R23f8cc1aeee84e0c" /><Relationship Type="http://schemas.openxmlformats.org/officeDocument/2006/relationships/presProps" Target="/ppt/presProps.xml" Id="R52640742a5214ccc" /><Relationship Type="http://schemas.openxmlformats.org/officeDocument/2006/relationships/tableStyles" Target="/ppt/tableStyles.xml" Id="R274a22a078b74b3c" /><Relationship Type="http://schemas.openxmlformats.org/officeDocument/2006/relationships/slide" Target="/ppt/slides/slide1.xml" Id="Rae0b05d0b45a43f7" /><Relationship Type="http://schemas.openxmlformats.org/officeDocument/2006/relationships/slide" Target="/ppt/slides/slide2.xml" Id="R006b9b70bc9444ad" /><Relationship Type="http://schemas.openxmlformats.org/officeDocument/2006/relationships/slide" Target="/ppt/slides/slide3.xml" Id="R337fdcb9b49d481b" /><Relationship Type="http://schemas.openxmlformats.org/officeDocument/2006/relationships/slide" Target="/ppt/slides/slide4.xml" Id="R84b509f95ed343ec" /><Relationship Type="http://schemas.openxmlformats.org/officeDocument/2006/relationships/slide" Target="/ppt/slides/slide5.xml" Id="R7ac2b324f0dd40c7" /><Relationship Type="http://schemas.openxmlformats.org/officeDocument/2006/relationships/slide" Target="/ppt/slides/slide6.xml" Id="Rd715489d33f74c49" /><Relationship Type="http://schemas.openxmlformats.org/officeDocument/2006/relationships/slide" Target="/ppt/slides/slide7.xml" Id="R405e0a93c85c4408" /><Relationship Type="http://schemas.openxmlformats.org/officeDocument/2006/relationships/slide" Target="/ppt/slides/slide8.xml" Id="R823caf0b2b8740da" /><Relationship Type="http://schemas.openxmlformats.org/officeDocument/2006/relationships/slide" Target="/ppt/slides/slide9.xml" Id="R2230420c95174314" /><Relationship Type="http://schemas.openxmlformats.org/officeDocument/2006/relationships/slide" Target="/ppt/slides/slide10.xml" Id="Rc9e3e297d8a74d62" /><Relationship Type="http://schemas.openxmlformats.org/officeDocument/2006/relationships/slide" Target="/ppt/slides/slide11.xml" Id="Rde97bdad09c44901" /><Relationship Type="http://schemas.openxmlformats.org/officeDocument/2006/relationships/slide" Target="/ppt/slides/slide12.xml" Id="R22a5ad2a36b5478c" /><Relationship Type="http://schemas.openxmlformats.org/officeDocument/2006/relationships/slide" Target="/ppt/slides/slide13.xml" Id="Rb7feaf80bd3442ff" /><Relationship Type="http://schemas.openxmlformats.org/officeDocument/2006/relationships/slide" Target="/ppt/slides/slide14.xml" Id="R1e338d427b6a45fb" /><Relationship Type="http://schemas.openxmlformats.org/officeDocument/2006/relationships/slide" Target="/ppt/slides/slide15.xml" Id="R37ae4c53cc9945c4" /><Relationship Type="http://schemas.openxmlformats.org/officeDocument/2006/relationships/slide" Target="/ppt/slides/slide16.xml" Id="Rb68892e0d1dd4ee8" /><Relationship Type="http://schemas.openxmlformats.org/officeDocument/2006/relationships/slide" Target="/ppt/slides/slide17.xml" Id="R0bbef1923abe40db" /><Relationship Type="http://schemas.openxmlformats.org/officeDocument/2006/relationships/slide" Target="/ppt/slides/slide18.xml" Id="Rf0d78d00e6ab43fe" /><Relationship Type="http://schemas.openxmlformats.org/officeDocument/2006/relationships/slide" Target="/ppt/slides/slide19.xml" Id="R84fc4205f66442a5" /><Relationship Type="http://schemas.openxmlformats.org/officeDocument/2006/relationships/slide" Target="/ppt/slides/slide20.xml" Id="Ra52752f72c5c4c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65003090ba4d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ae6d4329bd4e5d" /><Relationship Type="http://schemas.openxmlformats.org/officeDocument/2006/relationships/notesMaster" Target="/ppt/notesMasters/notesMaster1.xml" Id="R913040ed84234e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1603b4dca2426a" /><Relationship Type="http://schemas.openxmlformats.org/officeDocument/2006/relationships/notesMaster" Target="/ppt/notesMasters/notesMaster1.xml" Id="Re1fac80c11a245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4513faa3014404" /><Relationship Type="http://schemas.openxmlformats.org/officeDocument/2006/relationships/notesMaster" Target="/ppt/notesMasters/notesMaster1.xml" Id="R4b31f740522b46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80582fb5434d7b" /><Relationship Type="http://schemas.openxmlformats.org/officeDocument/2006/relationships/notesMaster" Target="/ppt/notesMasters/notesMaster1.xml" Id="R8b22beb9b59944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5b77c3b01f44ca" /><Relationship Type="http://schemas.openxmlformats.org/officeDocument/2006/relationships/notesMaster" Target="/ppt/notesMasters/notesMaster1.xml" Id="R1a8adfdc4d6548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ee69bc432249d6" /><Relationship Type="http://schemas.openxmlformats.org/officeDocument/2006/relationships/notesMaster" Target="/ppt/notesMasters/notesMaster1.xml" Id="R75c1a3127b794b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1c2f7e8fe448b5" /><Relationship Type="http://schemas.openxmlformats.org/officeDocument/2006/relationships/notesMaster" Target="/ppt/notesMasters/notesMaster1.xml" Id="R7000ad9b2cd341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7a49dad57d41b3" /><Relationship Type="http://schemas.openxmlformats.org/officeDocument/2006/relationships/notesMaster" Target="/ppt/notesMasters/notesMaster1.xml" Id="R30b382eb76b646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0e7b356d6743ff" /><Relationship Type="http://schemas.openxmlformats.org/officeDocument/2006/relationships/notesMaster" Target="/ppt/notesMasters/notesMaster1.xml" Id="R71ebe64179b84d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0b9d87fc984db1" /><Relationship Type="http://schemas.openxmlformats.org/officeDocument/2006/relationships/notesMaster" Target="/ppt/notesMasters/notesMaster1.xml" Id="R2e3d3fd10fe54d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2ca1eb4aee4533" /><Relationship Type="http://schemas.openxmlformats.org/officeDocument/2006/relationships/notesMaster" Target="/ppt/notesMasters/notesMaster1.xml" Id="Rb34ae1fa4df843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9133825b8149ed" /><Relationship Type="http://schemas.openxmlformats.org/officeDocument/2006/relationships/notesMaster" Target="/ppt/notesMasters/notesMaster1.xml" Id="R0543b79a8c0443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9cbae554da44b4" /><Relationship Type="http://schemas.openxmlformats.org/officeDocument/2006/relationships/notesMaster" Target="/ppt/notesMasters/notesMaster1.xml" Id="Reed53df8e9994f0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b945920c51c4a41" /><Relationship Type="http://schemas.openxmlformats.org/officeDocument/2006/relationships/notesMaster" Target="/ppt/notesMasters/notesMaster1.xml" Id="R7dbebfcf9e674b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dcadc25e1524f4d" /><Relationship Type="http://schemas.openxmlformats.org/officeDocument/2006/relationships/notesMaster" Target="/ppt/notesMasters/notesMaster1.xml" Id="R8294fb1cef484f1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20587943b1d4be3" /><Relationship Type="http://schemas.openxmlformats.org/officeDocument/2006/relationships/notesMaster" Target="/ppt/notesMasters/notesMaster1.xml" Id="R58ae7e79a6c1419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648eac907294478" /><Relationship Type="http://schemas.openxmlformats.org/officeDocument/2006/relationships/notesMaster" Target="/ppt/notesMasters/notesMaster1.xml" Id="R514c5ec6b33d497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f9660369d5d41fb" /><Relationship Type="http://schemas.openxmlformats.org/officeDocument/2006/relationships/notesMaster" Target="/ppt/notesMasters/notesMaster1.xml" Id="R50366ff4c01b4bf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bdddc7ffe4241a7" /><Relationship Type="http://schemas.openxmlformats.org/officeDocument/2006/relationships/notesMaster" Target="/ppt/notesMasters/notesMaster1.xml" Id="Rb42627709d724c1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42253e7f11d4a3a" /><Relationship Type="http://schemas.openxmlformats.org/officeDocument/2006/relationships/notesMaster" Target="/ppt/notesMasters/notesMaster1.xml" Id="R1fa712b2f01c48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deployment stage turns the research pipeline into a usable client-side product called BlinkGuard.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model was selected because it achieved strong benchmark performance while remaining small and easy to port to JavaScript.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architecture mirrors the Python realtime pipeline, but it runs fully in the browser.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keeps the web runtime consistent with the training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web app evolved from a drowsiness demo into a lightweight eye-health assistant.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prevents short blinks from being treated as sleep.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76ef7f0ca47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7cb997b8e54879" /><Relationship Type="http://schemas.openxmlformats.org/officeDocument/2006/relationships/slideLayout" Target="/ppt/slideLayouts/slideLayout1.xml" Id="R8d5cbcb617f844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5cbcb617f844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8a6c617574cb2" /><Relationship Type="http://schemas.openxmlformats.org/officeDocument/2006/relationships/notesSlide" Target="/ppt/notesSlides/notesSlide1.xml" Id="Rfe2ed82203be45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bad0674044c61" /><Relationship Type="http://schemas.openxmlformats.org/officeDocument/2006/relationships/notesSlide" Target="/ppt/notesSlides/notesSlide2.xml" Id="Raaa184dbd53743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65a6555264d26" /><Relationship Type="http://schemas.openxmlformats.org/officeDocument/2006/relationships/notesSlide" Target="/ppt/notesSlides/notesSlide3.xml" Id="Rb06d7bbbea7c4f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0a9815e884abb" /><Relationship Type="http://schemas.openxmlformats.org/officeDocument/2006/relationships/notesSlide" Target="/ppt/notesSlides/notesSlide4.xml" Id="R62fe282df55446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bc5ff6c0d4721" /><Relationship Type="http://schemas.openxmlformats.org/officeDocument/2006/relationships/notesSlide" Target="/ppt/notesSlides/notesSlide5.xml" Id="R747f249671e74c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78bd3eca542fb" /><Relationship Type="http://schemas.openxmlformats.org/officeDocument/2006/relationships/notesSlide" Target="/ppt/notesSlides/notesSlide6.xml" Id="R202583528bf043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91a4f86da4aee" /><Relationship Type="http://schemas.openxmlformats.org/officeDocument/2006/relationships/notesSlide" Target="/ppt/notesSlides/notesSlide7.xml" Id="R2785e1f98f2c48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d367b8c3346fe" /><Relationship Type="http://schemas.openxmlformats.org/officeDocument/2006/relationships/notesSlide" Target="/ppt/notesSlides/notesSlide8.xml" Id="Rb8ea2478e9fd4e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a5ab191364bfb" /><Relationship Type="http://schemas.openxmlformats.org/officeDocument/2006/relationships/notesSlide" Target="/ppt/notesSlides/notesSlide9.xml" Id="R71ab03db547546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02490119e469c" /><Relationship Type="http://schemas.openxmlformats.org/officeDocument/2006/relationships/notesSlide" Target="/ppt/notesSlides/notesSlide10.xml" Id="R163d23dc1bec47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8b66703264e7b" /><Relationship Type="http://schemas.openxmlformats.org/officeDocument/2006/relationships/notesSlide" Target="/ppt/notesSlides/notesSlide11.xml" Id="R5aa73386bbed40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eae1c5de946e3" /><Relationship Type="http://schemas.openxmlformats.org/officeDocument/2006/relationships/notesSlide" Target="/ppt/notesSlides/notesSlide12.xml" Id="Rcc5d3ea94e3040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3375364de4df9" /><Relationship Type="http://schemas.openxmlformats.org/officeDocument/2006/relationships/notesSlide" Target="/ppt/notesSlides/notesSlide13.xml" Id="Rb766487f1cb44f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4f99fd91e4a3d" /><Relationship Type="http://schemas.openxmlformats.org/officeDocument/2006/relationships/notesSlide" Target="/ppt/notesSlides/notesSlide14.xml" Id="Ree9d9e6c78424b4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3d328ed3d484a" /><Relationship Type="http://schemas.openxmlformats.org/officeDocument/2006/relationships/notesSlide" Target="/ppt/notesSlides/notesSlide15.xml" Id="R53ec8d1fef3c4b0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f4213d497402b" /><Relationship Type="http://schemas.openxmlformats.org/officeDocument/2006/relationships/notesSlide" Target="/ppt/notesSlides/notesSlide16.xml" Id="Rbd77c7cefbb443b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2ef908ad24e3d" /><Relationship Type="http://schemas.openxmlformats.org/officeDocument/2006/relationships/notesSlide" Target="/ppt/notesSlides/notesSlide17.xml" Id="R40111e900e2e477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180aff59d4a46" /><Relationship Type="http://schemas.openxmlformats.org/officeDocument/2006/relationships/notesSlide" Target="/ppt/notesSlides/notesSlide18.xml" Id="R39f73e07f7fc46e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a2defc8ef49a7" /><Relationship Type="http://schemas.openxmlformats.org/officeDocument/2006/relationships/notesSlide" Target="/ppt/notesSlides/notesSlide19.xml" Id="Rf4018f665fa4497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290b5bbcf482a" /><Relationship Type="http://schemas.openxmlformats.org/officeDocument/2006/relationships/notesSlide" Target="/ppt/notesSlides/notesSlide20.xml" Id="R0b486c460b5541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-section">
            <a:extLst xmlns:a="http://schemas.openxmlformats.org/drawingml/2006/main">
              <a:ext uri="{FF2B5EF4-FFF2-40B4-BE49-F238E27FC236}">
                <a16:creationId xmlns:a16="http://schemas.microsoft.com/office/drawing/2014/main" id="{F4BB0CC7-4CAF-4ACA-AED7-6A0C6B96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Slide 1: Deployment Goal</a:t>
            </a:r>
          </a:p>
        </p:txBody>
      </p:sp>
      <p:sp>
        <p:nvSpPr>
          <p:cNvPr id="2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F985F05C-FEF0-4D28-A4B9-5C539D7B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82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From Python Prototype to Browser-Based BlinkGuard</a:t>
            </a:r>
          </a:p>
        </p:txBody>
      </p:sp>
      <p:sp>
        <p:nvSpPr>
          <p:cNvPr id="3" name="slide-1-rule">
            <a:extLst xmlns:a="http://schemas.openxmlformats.org/drawingml/2006/main">
              <a:ext uri="{FF2B5EF4-FFF2-40B4-BE49-F238E27FC236}">
                <a16:creationId xmlns:a16="http://schemas.microsoft.com/office/drawing/2014/main" id="{D45B2AF6-EF25-40FF-9305-48E1FB61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bullet-86-200">
            <a:extLst xmlns:a="http://schemas.openxmlformats.org/drawingml/2006/main">
              <a:ext uri="{FF2B5EF4-FFF2-40B4-BE49-F238E27FC236}">
                <a16:creationId xmlns:a16="http://schemas.microsoft.com/office/drawing/2014/main" id="{92C518CB-0AA4-43B3-ADCD-BF71559D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5" name="bullet-text-86-200">
            <a:extLst xmlns:a="http://schemas.openxmlformats.org/drawingml/2006/main">
              <a:ext uri="{FF2B5EF4-FFF2-40B4-BE49-F238E27FC236}">
                <a16:creationId xmlns:a16="http://schemas.microsoft.com/office/drawing/2014/main" id="{0B4A04C2-AA0E-4DEB-A684-20386017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Deploy the eye-state detection pipeline as a real-time web application.</a:t>
            </a:r>
          </a:p>
        </p:txBody>
      </p:sp>
      <p:sp>
        <p:nvSpPr>
          <p:cNvPr id="6" name="bullet-86-236">
            <a:extLst xmlns:a="http://schemas.openxmlformats.org/drawingml/2006/main">
              <a:ext uri="{FF2B5EF4-FFF2-40B4-BE49-F238E27FC236}">
                <a16:creationId xmlns:a16="http://schemas.microsoft.com/office/drawing/2014/main" id="{7E71F91C-D6EB-4E80-87B4-C48567E0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7" name="bullet-text-86-236">
            <a:extLst xmlns:a="http://schemas.openxmlformats.org/drawingml/2006/main">
              <a:ext uri="{FF2B5EF4-FFF2-40B4-BE49-F238E27FC236}">
                <a16:creationId xmlns:a16="http://schemas.microsoft.com/office/drawing/2014/main" id="{8200D9FC-8A50-45B3-B839-B474AAA6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Run all inference directly in the user's browser.</a:t>
            </a:r>
          </a:p>
        </p:txBody>
      </p:sp>
      <p:sp>
        <p:nvSpPr>
          <p:cNvPr id="8" name="bullet-86-272">
            <a:extLst xmlns:a="http://schemas.openxmlformats.org/drawingml/2006/main">
              <a:ext uri="{FF2B5EF4-FFF2-40B4-BE49-F238E27FC236}">
                <a16:creationId xmlns:a16="http://schemas.microsoft.com/office/drawing/2014/main" id="{B449AB9E-BBFB-42C9-B0AE-E20863B6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9" name="bullet-text-86-272">
            <a:extLst xmlns:a="http://schemas.openxmlformats.org/drawingml/2006/main">
              <a:ext uri="{FF2B5EF4-FFF2-40B4-BE49-F238E27FC236}">
                <a16:creationId xmlns:a16="http://schemas.microsoft.com/office/drawing/2014/main" id="{93270A8F-D197-400E-9B91-BEB1003F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Track blink behavior and drowsiness using webcam input.</a:t>
            </a:r>
          </a:p>
        </p:txBody>
      </p:sp>
      <p:sp>
        <p:nvSpPr>
          <p:cNvPr id="10" name="bullet-86-308">
            <a:extLst xmlns:a="http://schemas.openxmlformats.org/drawingml/2006/main">
              <a:ext uri="{FF2B5EF4-FFF2-40B4-BE49-F238E27FC236}">
                <a16:creationId xmlns:a16="http://schemas.microsoft.com/office/drawing/2014/main" id="{DE6D055A-D749-4DCE-B238-876FF6F2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1" name="bullet-text-86-308">
            <a:extLst xmlns:a="http://schemas.openxmlformats.org/drawingml/2006/main">
              <a:ext uri="{FF2B5EF4-FFF2-40B4-BE49-F238E27FC236}">
                <a16:creationId xmlns:a16="http://schemas.microsoft.com/office/drawing/2014/main" id="{6A322009-E5AA-4B1D-88E3-714F2317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Provide alerts when users forget to blink during long focus sessions.</a:t>
            </a:r>
          </a:p>
        </p:txBody>
      </p:sp>
      <p:sp>
        <p:nvSpPr>
          <p:cNvPr id="12" name="bullet-86-344">
            <a:extLst xmlns:a="http://schemas.openxmlformats.org/drawingml/2006/main">
              <a:ext uri="{FF2B5EF4-FFF2-40B4-BE49-F238E27FC236}">
                <a16:creationId xmlns:a16="http://schemas.microsoft.com/office/drawing/2014/main" id="{B0CFEDF2-2785-4381-900C-00964CB5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3" name="bullet-text-86-344">
            <a:extLst xmlns:a="http://schemas.openxmlformats.org/drawingml/2006/main">
              <a:ext uri="{FF2B5EF4-FFF2-40B4-BE49-F238E27FC236}">
                <a16:creationId xmlns:a16="http://schemas.microsoft.com/office/drawing/2014/main" id="{42991513-3C12-47CA-AE99-60CEAD2D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Keep the system privacy-friendly by avoiding server-side video processing.</a:t>
            </a:r>
          </a:p>
        </p:txBody>
      </p:sp>
    </p:spTree>
    <p:extLst>
      <p:ext uri="{BB962C8B-B14F-4D97-AF65-F5344CB8AC3E}">
        <p14:creationId xmlns:p14="http://schemas.microsoft.com/office/powerpoint/2010/main" val="8080667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-section">
            <a:extLst xmlns:a="http://schemas.openxmlformats.org/drawingml/2006/main">
              <a:ext uri="{FF2B5EF4-FFF2-40B4-BE49-F238E27FC236}">
                <a16:creationId xmlns:a16="http://schemas.microsoft.com/office/drawing/2014/main" id="{BFFBABF6-58F3-47BC-B47D-24782FB0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Slide 2: Why Client-Side Deployment?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260C8176-B894-4FF0-A4CB-5C5D9526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82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Why Run Everything in the Browser?</a:t>
            </a:r>
          </a:p>
        </p:txBody>
      </p:sp>
      <p:sp>
        <p:nvSpPr>
          <p:cNvPr id="3" name="slide-2-rule">
            <a:extLst xmlns:a="http://schemas.openxmlformats.org/drawingml/2006/main">
              <a:ext uri="{FF2B5EF4-FFF2-40B4-BE49-F238E27FC236}">
                <a16:creationId xmlns:a16="http://schemas.microsoft.com/office/drawing/2014/main" id="{01CC4A61-79BA-4AF3-B29B-BDF3EA6E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bullet-86-200">
            <a:extLst xmlns:a="http://schemas.openxmlformats.org/drawingml/2006/main">
              <a:ext uri="{FF2B5EF4-FFF2-40B4-BE49-F238E27FC236}">
                <a16:creationId xmlns:a16="http://schemas.microsoft.com/office/drawing/2014/main" id="{59BF2308-82FD-40D1-AC70-95DCB889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5" name="bullet-text-86-200">
            <a:extLst xmlns:a="http://schemas.openxmlformats.org/drawingml/2006/main">
              <a:ext uri="{FF2B5EF4-FFF2-40B4-BE49-F238E27FC236}">
                <a16:creationId xmlns:a16="http://schemas.microsoft.com/office/drawing/2014/main" id="{73E65BA8-AB05-4B4B-9751-EC3164ED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final TimeSeries EAR model is a lightweight Linear SVM.</a:t>
            </a:r>
          </a:p>
        </p:txBody>
      </p:sp>
      <p:sp>
        <p:nvSpPr>
          <p:cNvPr id="6" name="bullet-86-236">
            <a:extLst xmlns:a="http://schemas.openxmlformats.org/drawingml/2006/main">
              <a:ext uri="{FF2B5EF4-FFF2-40B4-BE49-F238E27FC236}">
                <a16:creationId xmlns:a16="http://schemas.microsoft.com/office/drawing/2014/main" id="{56545D72-FD91-420E-B629-7BE5DB73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7" name="bullet-text-86-236">
            <a:extLst xmlns:a="http://schemas.openxmlformats.org/drawingml/2006/main">
              <a:ext uri="{FF2B5EF4-FFF2-40B4-BE49-F238E27FC236}">
                <a16:creationId xmlns:a16="http://schemas.microsoft.com/office/drawing/2014/main" id="{C0C1E042-70DA-461B-BF69-FEDAAC0F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Inference is fast enough to run directly on laptops and phones.</a:t>
            </a:r>
          </a:p>
        </p:txBody>
      </p:sp>
      <p:sp>
        <p:nvSpPr>
          <p:cNvPr id="8" name="bullet-86-272">
            <a:extLst xmlns:a="http://schemas.openxmlformats.org/drawingml/2006/main">
              <a:ext uri="{FF2B5EF4-FFF2-40B4-BE49-F238E27FC236}">
                <a16:creationId xmlns:a16="http://schemas.microsoft.com/office/drawing/2014/main" id="{7265D7D2-F081-4465-9C6F-03FF329C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9" name="bullet-text-86-272">
            <a:extLst xmlns:a="http://schemas.openxmlformats.org/drawingml/2006/main">
              <a:ext uri="{FF2B5EF4-FFF2-40B4-BE49-F238E27FC236}">
                <a16:creationId xmlns:a16="http://schemas.microsoft.com/office/drawing/2014/main" id="{BBABD7BE-96DE-4EDF-8B66-3EAC6728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 backend server is required for camera processing or model inference.</a:t>
            </a:r>
          </a:p>
        </p:txBody>
      </p:sp>
      <p:sp>
        <p:nvSpPr>
          <p:cNvPr id="10" name="bullet-86-308">
            <a:extLst xmlns:a="http://schemas.openxmlformats.org/drawingml/2006/main">
              <a:ext uri="{FF2B5EF4-FFF2-40B4-BE49-F238E27FC236}">
                <a16:creationId xmlns:a16="http://schemas.microsoft.com/office/drawing/2014/main" id="{18BBE51E-8907-4703-B324-6F57933B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1" name="bullet-text-86-308">
            <a:extLst xmlns:a="http://schemas.openxmlformats.org/drawingml/2006/main">
              <a:ext uri="{FF2B5EF4-FFF2-40B4-BE49-F238E27FC236}">
                <a16:creationId xmlns:a16="http://schemas.microsoft.com/office/drawing/2014/main" id="{94411151-8FC4-426F-A5E2-CE539AA4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Webcam frames stay on the user's device.</a:t>
            </a:r>
          </a:p>
        </p:txBody>
      </p:sp>
      <p:sp>
        <p:nvSpPr>
          <p:cNvPr id="12" name="bullet-86-344">
            <a:extLst xmlns:a="http://schemas.openxmlformats.org/drawingml/2006/main">
              <a:ext uri="{FF2B5EF4-FFF2-40B4-BE49-F238E27FC236}">
                <a16:creationId xmlns:a16="http://schemas.microsoft.com/office/drawing/2014/main" id="{7F61D4C9-1316-4883-85FF-08576351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3" name="bullet-text-86-344">
            <a:extLst xmlns:a="http://schemas.openxmlformats.org/drawingml/2006/main">
              <a:ext uri="{FF2B5EF4-FFF2-40B4-BE49-F238E27FC236}">
                <a16:creationId xmlns:a16="http://schemas.microsoft.com/office/drawing/2014/main" id="{F3229AE6-8483-42C0-9045-C2EEE768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app can be hosted as a static website with very low deployment cost.</a:t>
            </a:r>
          </a:p>
        </p:txBody>
      </p:sp>
      <p:sp>
        <p:nvSpPr>
          <p:cNvPr id="14" name="label-Key Message-392">
            <a:extLst xmlns:a="http://schemas.openxmlformats.org/drawingml/2006/main">
              <a:ext uri="{FF2B5EF4-FFF2-40B4-BE49-F238E27FC236}">
                <a16:creationId xmlns:a16="http://schemas.microsoft.com/office/drawing/2014/main" id="{6163447A-39F1-4089-AC9A-9C943087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Key Message:</a:t>
            </a:r>
          </a:p>
        </p:txBody>
      </p:sp>
      <p:sp>
        <p:nvSpPr>
          <p:cNvPr id="15" name="text-426">
            <a:extLst xmlns:a="http://schemas.openxmlformats.org/drawingml/2006/main">
              <a:ext uri="{FF2B5EF4-FFF2-40B4-BE49-F238E27FC236}">
                <a16:creationId xmlns:a16="http://schemas.microsoft.com/office/drawing/2014/main" id="{EF120CF1-696E-408A-B167-674E379F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1036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Client-side deployment gives us low latency, better privacy, and almost zero server cost.</a:t>
            </a:r>
          </a:p>
        </p:txBody>
      </p:sp>
    </p:spTree>
    <p:extLst>
      <p:ext uri="{BB962C8B-B14F-4D97-AF65-F5344CB8AC3E}">
        <p14:creationId xmlns:p14="http://schemas.microsoft.com/office/powerpoint/2010/main" val="5265797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3-section">
            <a:extLst xmlns:a="http://schemas.openxmlformats.org/drawingml/2006/main">
              <a:ext uri="{FF2B5EF4-FFF2-40B4-BE49-F238E27FC236}">
                <a16:creationId xmlns:a16="http://schemas.microsoft.com/office/drawing/2014/main" id="{5A440F73-11DB-48B6-A8B4-045911DA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Slide 3: Deployed Model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1949F22E-5C6F-4EEE-B59F-5C6017AC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82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Model Used for Web Deployment</a:t>
            </a:r>
          </a:p>
        </p:txBody>
      </p:sp>
      <p:sp>
        <p:nvSpPr>
          <p:cNvPr id="3" name="slide-3-rule">
            <a:extLst xmlns:a="http://schemas.openxmlformats.org/drawingml/2006/main">
              <a:ext uri="{FF2B5EF4-FFF2-40B4-BE49-F238E27FC236}">
                <a16:creationId xmlns:a16="http://schemas.microsoft.com/office/drawing/2014/main" id="{65F26AC3-6067-452F-93DE-E3237D74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bullet-86-200">
            <a:extLst xmlns:a="http://schemas.openxmlformats.org/drawingml/2006/main">
              <a:ext uri="{FF2B5EF4-FFF2-40B4-BE49-F238E27FC236}">
                <a16:creationId xmlns:a16="http://schemas.microsoft.com/office/drawing/2014/main" id="{094A7DD2-09BB-4ACE-98C2-7960F2F3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5" name="bullet-text-86-200">
            <a:extLst xmlns:a="http://schemas.openxmlformats.org/drawingml/2006/main">
              <a:ext uri="{FF2B5EF4-FFF2-40B4-BE49-F238E27FC236}">
                <a16:creationId xmlns:a16="http://schemas.microsoft.com/office/drawing/2014/main" id="{9D62EF07-6C1D-484E-9180-DB5A817B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Source model: best_traditional_model.pkl</a:t>
            </a:r>
          </a:p>
        </p:txBody>
      </p:sp>
      <p:sp>
        <p:nvSpPr>
          <p:cNvPr id="6" name="bullet-86-236">
            <a:extLst xmlns:a="http://schemas.openxmlformats.org/drawingml/2006/main">
              <a:ext uri="{FF2B5EF4-FFF2-40B4-BE49-F238E27FC236}">
                <a16:creationId xmlns:a16="http://schemas.microsoft.com/office/drawing/2014/main" id="{9D0EF76A-D222-4D4A-B7B6-A32FD2A3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7" name="bullet-text-86-236">
            <a:extLst xmlns:a="http://schemas.openxmlformats.org/drawingml/2006/main">
              <a:ext uri="{FF2B5EF4-FFF2-40B4-BE49-F238E27FC236}">
                <a16:creationId xmlns:a16="http://schemas.microsoft.com/office/drawing/2014/main" id="{C4A40697-8453-4503-BC97-40CF8681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Model type: StandardScaler + Linear SVC</a:t>
            </a:r>
          </a:p>
        </p:txBody>
      </p:sp>
      <p:sp>
        <p:nvSpPr>
          <p:cNvPr id="8" name="bullet-86-272">
            <a:extLst xmlns:a="http://schemas.openxmlformats.org/drawingml/2006/main">
              <a:ext uri="{FF2B5EF4-FFF2-40B4-BE49-F238E27FC236}">
                <a16:creationId xmlns:a16="http://schemas.microsoft.com/office/drawing/2014/main" id="{8437B045-CD84-47CC-AAD1-49E5D098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9" name="bullet-text-86-272">
            <a:extLst xmlns:a="http://schemas.openxmlformats.org/drawingml/2006/main">
              <a:ext uri="{FF2B5EF4-FFF2-40B4-BE49-F238E27FC236}">
                <a16:creationId xmlns:a16="http://schemas.microsoft.com/office/drawing/2014/main" id="{F91350E4-D3D4-4317-8141-D35CD2F5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Input: 12 dynamic EAR-based features</a:t>
            </a:r>
          </a:p>
        </p:txBody>
      </p:sp>
      <p:sp>
        <p:nvSpPr>
          <p:cNvPr id="10" name="bullet-86-308">
            <a:extLst xmlns:a="http://schemas.openxmlformats.org/drawingml/2006/main">
              <a:ext uri="{FF2B5EF4-FFF2-40B4-BE49-F238E27FC236}">
                <a16:creationId xmlns:a16="http://schemas.microsoft.com/office/drawing/2014/main" id="{9AE82ACA-0B37-47EB-8450-C6D38E25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1" name="bullet-text-86-308">
            <a:extLst xmlns:a="http://schemas.openxmlformats.org/drawingml/2006/main">
              <a:ext uri="{FF2B5EF4-FFF2-40B4-BE49-F238E27FC236}">
                <a16:creationId xmlns:a16="http://schemas.microsoft.com/office/drawing/2014/main" id="{835E186C-3549-4273-8DF7-3786FF57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Output classes:</a:t>
            </a:r>
          </a:p>
        </p:txBody>
      </p:sp>
      <p:sp>
        <p:nvSpPr>
          <p:cNvPr id="12" name="bullet-86-344">
            <a:extLst xmlns:a="http://schemas.openxmlformats.org/drawingml/2006/main">
              <a:ext uri="{FF2B5EF4-FFF2-40B4-BE49-F238E27FC236}">
                <a16:creationId xmlns:a16="http://schemas.microsoft.com/office/drawing/2014/main" id="{F4BD0A60-F8FE-40D2-8931-1F6DE42E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–</a:t>
            </a:r>
          </a:p>
        </p:txBody>
      </p:sp>
      <p:sp>
        <p:nvSpPr>
          <p:cNvPr id="13" name="bullet-text-86-344">
            <a:extLst xmlns:a="http://schemas.openxmlformats.org/drawingml/2006/main">
              <a:ext uri="{FF2B5EF4-FFF2-40B4-BE49-F238E27FC236}">
                <a16:creationId xmlns:a16="http://schemas.microsoft.com/office/drawing/2014/main" id="{3AD73AEC-244C-4616-8EA3-402CD5C8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766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0: Eye open / no blink</a:t>
            </a:r>
          </a:p>
        </p:txBody>
      </p:sp>
      <p:sp>
        <p:nvSpPr>
          <p:cNvPr id="14" name="bullet-86-380">
            <a:extLst xmlns:a="http://schemas.openxmlformats.org/drawingml/2006/main">
              <a:ext uri="{FF2B5EF4-FFF2-40B4-BE49-F238E27FC236}">
                <a16:creationId xmlns:a16="http://schemas.microsoft.com/office/drawing/2014/main" id="{54AC1199-1A08-4B51-854B-36C56426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195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–</a:t>
            </a:r>
          </a:p>
        </p:txBody>
      </p:sp>
      <p:sp>
        <p:nvSpPr>
          <p:cNvPr id="15" name="bullet-text-86-380">
            <a:extLst xmlns:a="http://schemas.openxmlformats.org/drawingml/2006/main">
              <a:ext uri="{FF2B5EF4-FFF2-40B4-BE49-F238E27FC236}">
                <a16:creationId xmlns:a16="http://schemas.microsoft.com/office/drawing/2014/main" id="{A9C31028-D0DB-4934-87E9-97182A01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195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1: Blink</a:t>
            </a:r>
          </a:p>
        </p:txBody>
      </p:sp>
      <p:sp>
        <p:nvSpPr>
          <p:cNvPr id="16" name="bullet-86-416">
            <a:extLst xmlns:a="http://schemas.openxmlformats.org/drawingml/2006/main">
              <a:ext uri="{FF2B5EF4-FFF2-40B4-BE49-F238E27FC236}">
                <a16:creationId xmlns:a16="http://schemas.microsoft.com/office/drawing/2014/main" id="{B8A1C179-BEAB-4760-94F1-20FB76D0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624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–</a:t>
            </a:r>
          </a:p>
        </p:txBody>
      </p:sp>
      <p:sp>
        <p:nvSpPr>
          <p:cNvPr id="17" name="bullet-text-86-416">
            <a:extLst xmlns:a="http://schemas.openxmlformats.org/drawingml/2006/main">
              <a:ext uri="{FF2B5EF4-FFF2-40B4-BE49-F238E27FC236}">
                <a16:creationId xmlns:a16="http://schemas.microsoft.com/office/drawing/2014/main" id="{1909CA6F-0B9D-4C52-9C7D-4377619A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2: Sleep / long closure</a:t>
            </a:r>
          </a:p>
        </p:txBody>
      </p:sp>
    </p:spTree>
    <p:extLst>
      <p:ext uri="{BB962C8B-B14F-4D97-AF65-F5344CB8AC3E}">
        <p14:creationId xmlns:p14="http://schemas.microsoft.com/office/powerpoint/2010/main" val="3390034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4-section">
            <a:extLst xmlns:a="http://schemas.openxmlformats.org/drawingml/2006/main">
              <a:ext uri="{FF2B5EF4-FFF2-40B4-BE49-F238E27FC236}">
                <a16:creationId xmlns:a16="http://schemas.microsoft.com/office/drawing/2014/main" id="{031E5629-0595-414A-86A3-DB92177A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Slide 4: 12-Feature Input Vector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88241CDF-2020-438D-897E-F4D026FC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82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Input Features for SVM Inference</a:t>
            </a:r>
          </a:p>
        </p:txBody>
      </p:sp>
      <p:sp>
        <p:nvSpPr>
          <p:cNvPr id="3" name="slide-4-rule">
            <a:extLst xmlns:a="http://schemas.openxmlformats.org/drawingml/2006/main">
              <a:ext uri="{FF2B5EF4-FFF2-40B4-BE49-F238E27FC236}">
                <a16:creationId xmlns:a16="http://schemas.microsoft.com/office/drawing/2014/main" id="{7B7DE78D-1B57-4EDB-8AFA-C8FAF942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bullet-86-200">
            <a:extLst xmlns:a="http://schemas.openxmlformats.org/drawingml/2006/main">
              <a:ext uri="{FF2B5EF4-FFF2-40B4-BE49-F238E27FC236}">
                <a16:creationId xmlns:a16="http://schemas.microsoft.com/office/drawing/2014/main" id="{82ADB62E-C1CD-44B8-A8EB-FD00B61E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5" name="bullet-text-86-200">
            <a:extLst xmlns:a="http://schemas.openxmlformats.org/drawingml/2006/main">
              <a:ext uri="{FF2B5EF4-FFF2-40B4-BE49-F238E27FC236}">
                <a16:creationId xmlns:a16="http://schemas.microsoft.com/office/drawing/2014/main" id="{AE6AD67D-4310-4B1E-9230-448A4DBC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7 normalized EAR values from a sliding window</a:t>
            </a:r>
          </a:p>
        </p:txBody>
      </p:sp>
      <p:sp>
        <p:nvSpPr>
          <p:cNvPr id="6" name="bullet-86-236">
            <a:extLst xmlns:a="http://schemas.openxmlformats.org/drawingml/2006/main">
              <a:ext uri="{FF2B5EF4-FFF2-40B4-BE49-F238E27FC236}">
                <a16:creationId xmlns:a16="http://schemas.microsoft.com/office/drawing/2014/main" id="{2B6241BB-620C-47BA-80A9-5FE8E820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7" name="bullet-text-86-236">
            <a:extLst xmlns:a="http://schemas.openxmlformats.org/drawingml/2006/main">
              <a:ext uri="{FF2B5EF4-FFF2-40B4-BE49-F238E27FC236}">
                <a16:creationId xmlns:a16="http://schemas.microsoft.com/office/drawing/2014/main" id="{ABB5E1F0-3A0E-4E99-AA26-F1B42B58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Minimum EAR in the window</a:t>
            </a:r>
          </a:p>
        </p:txBody>
      </p:sp>
      <p:sp>
        <p:nvSpPr>
          <p:cNvPr id="8" name="bullet-86-272">
            <a:extLst xmlns:a="http://schemas.openxmlformats.org/drawingml/2006/main">
              <a:ext uri="{FF2B5EF4-FFF2-40B4-BE49-F238E27FC236}">
                <a16:creationId xmlns:a16="http://schemas.microsoft.com/office/drawing/2014/main" id="{F7236E22-2E57-4AB2-84E0-736A158E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9" name="bullet-text-86-272">
            <a:extLst xmlns:a="http://schemas.openxmlformats.org/drawingml/2006/main">
              <a:ext uri="{FF2B5EF4-FFF2-40B4-BE49-F238E27FC236}">
                <a16:creationId xmlns:a16="http://schemas.microsoft.com/office/drawing/2014/main" id="{481DA94B-FBA2-4E73-AE04-41A5F1A4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Maximum EAR in the window</a:t>
            </a:r>
          </a:p>
        </p:txBody>
      </p:sp>
      <p:sp>
        <p:nvSpPr>
          <p:cNvPr id="10" name="bullet-86-308">
            <a:extLst xmlns:a="http://schemas.openxmlformats.org/drawingml/2006/main">
              <a:ext uri="{FF2B5EF4-FFF2-40B4-BE49-F238E27FC236}">
                <a16:creationId xmlns:a16="http://schemas.microsoft.com/office/drawing/2014/main" id="{4AF356E2-F47B-4CCE-9EF3-DBAA5228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1" name="bullet-text-86-308">
            <a:extLst xmlns:a="http://schemas.openxmlformats.org/drawingml/2006/main">
              <a:ext uri="{FF2B5EF4-FFF2-40B4-BE49-F238E27FC236}">
                <a16:creationId xmlns:a16="http://schemas.microsoft.com/office/drawing/2014/main" id="{D2328685-B4A5-42B5-9F26-00F12F89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Standard deviation</a:t>
            </a:r>
          </a:p>
        </p:txBody>
      </p:sp>
      <p:sp>
        <p:nvSpPr>
          <p:cNvPr id="12" name="bullet-86-344">
            <a:extLst xmlns:a="http://schemas.openxmlformats.org/drawingml/2006/main">
              <a:ext uri="{FF2B5EF4-FFF2-40B4-BE49-F238E27FC236}">
                <a16:creationId xmlns:a16="http://schemas.microsoft.com/office/drawing/2014/main" id="{4717239F-8C31-4FCF-90D5-F15A0979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3" name="bullet-text-86-344">
            <a:extLst xmlns:a="http://schemas.openxmlformats.org/drawingml/2006/main">
              <a:ext uri="{FF2B5EF4-FFF2-40B4-BE49-F238E27FC236}">
                <a16:creationId xmlns:a16="http://schemas.microsoft.com/office/drawing/2014/main" id="{70C7B559-A4CB-4A72-B9D0-7688EAEA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Center ratio:</a:t>
            </a:r>
          </a:p>
        </p:txBody>
      </p:sp>
      <p:sp>
        <p:nvSpPr>
          <p:cNvPr id="14" name="bullet-86-380">
            <a:extLst xmlns:a="http://schemas.openxmlformats.org/drawingml/2006/main">
              <a:ext uri="{FF2B5EF4-FFF2-40B4-BE49-F238E27FC236}">
                <a16:creationId xmlns:a16="http://schemas.microsoft.com/office/drawing/2014/main" id="{133BBC3A-F3C3-40BC-B572-2036EAD9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195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–</a:t>
            </a:r>
          </a:p>
        </p:txBody>
      </p:sp>
      <p:sp>
        <p:nvSpPr>
          <p:cNvPr id="15" name="bullet-text-86-380">
            <a:extLst xmlns:a="http://schemas.openxmlformats.org/drawingml/2006/main">
              <a:ext uri="{FF2B5EF4-FFF2-40B4-BE49-F238E27FC236}">
                <a16:creationId xmlns:a16="http://schemas.microsoft.com/office/drawing/2014/main" id="{4AC318AB-4B36-4317-BF18-F5D20893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195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(w[0] + w[6]) / (2 * w[3] + 1e-5)</a:t>
            </a:r>
          </a:p>
        </p:txBody>
      </p:sp>
      <p:sp>
        <p:nvSpPr>
          <p:cNvPr id="16" name="bullet-86-416">
            <a:extLst xmlns:a="http://schemas.openxmlformats.org/drawingml/2006/main">
              <a:ext uri="{FF2B5EF4-FFF2-40B4-BE49-F238E27FC236}">
                <a16:creationId xmlns:a16="http://schemas.microsoft.com/office/drawing/2014/main" id="{FF2B1623-4E74-42DB-BDB9-F0D3BBEF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7" name="bullet-text-86-416">
            <a:extLst xmlns:a="http://schemas.openxmlformats.org/drawingml/2006/main">
              <a:ext uri="{FF2B5EF4-FFF2-40B4-BE49-F238E27FC236}">
                <a16:creationId xmlns:a16="http://schemas.microsoft.com/office/drawing/2014/main" id="{10757102-2413-4D80-B067-D059723A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624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Kurtosis of the window</a:t>
            </a:r>
          </a:p>
        </p:txBody>
      </p:sp>
      <p:sp>
        <p:nvSpPr>
          <p:cNvPr id="18" name="label-Important-464">
            <a:extLst xmlns:a="http://schemas.openxmlformats.org/drawingml/2006/main">
              <a:ext uri="{FF2B5EF4-FFF2-40B4-BE49-F238E27FC236}">
                <a16:creationId xmlns:a16="http://schemas.microsoft.com/office/drawing/2014/main" id="{CF7158D0-1D99-4F45-BE70-A765512F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Important:</a:t>
            </a:r>
          </a:p>
        </p:txBody>
      </p:sp>
      <p:sp>
        <p:nvSpPr>
          <p:cNvPr id="19" name="text-498">
            <a:extLst xmlns:a="http://schemas.openxmlformats.org/drawingml/2006/main">
              <a:ext uri="{FF2B5EF4-FFF2-40B4-BE49-F238E27FC236}">
                <a16:creationId xmlns:a16="http://schemas.microsoft.com/office/drawing/2014/main" id="{344641AB-100B-44E1-8699-B35C5F1C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1036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JavaScript feature extraction must match the Python training pipeline exactly.</a:t>
            </a:r>
          </a:p>
        </p:txBody>
      </p:sp>
    </p:spTree>
    <p:extLst>
      <p:ext uri="{BB962C8B-B14F-4D97-AF65-F5344CB8AC3E}">
        <p14:creationId xmlns:p14="http://schemas.microsoft.com/office/powerpoint/2010/main" val="1812339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5-section">
            <a:extLst xmlns:a="http://schemas.openxmlformats.org/drawingml/2006/main">
              <a:ext uri="{FF2B5EF4-FFF2-40B4-BE49-F238E27FC236}">
                <a16:creationId xmlns:a16="http://schemas.microsoft.com/office/drawing/2014/main" id="{8E089FD5-FF8F-4014-B52D-7E32199A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Slide 5: Converting the Model to JavaScript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CB0C7DD3-4439-4845-A35A-9944942C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82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From `.pkl` Model to JavaScript Function</a:t>
            </a:r>
          </a:p>
        </p:txBody>
      </p:sp>
      <p:sp>
        <p:nvSpPr>
          <p:cNvPr id="3" name="slide-5-rule">
            <a:extLst xmlns:a="http://schemas.openxmlformats.org/drawingml/2006/main">
              <a:ext uri="{FF2B5EF4-FFF2-40B4-BE49-F238E27FC236}">
                <a16:creationId xmlns:a16="http://schemas.microsoft.com/office/drawing/2014/main" id="{D28214A7-F146-4046-BEFF-0D8D25E5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bullet-86-200">
            <a:extLst xmlns:a="http://schemas.openxmlformats.org/drawingml/2006/main">
              <a:ext uri="{FF2B5EF4-FFF2-40B4-BE49-F238E27FC236}">
                <a16:creationId xmlns:a16="http://schemas.microsoft.com/office/drawing/2014/main" id="{1B2D53F4-74D4-4C71-BA09-8EFF90EA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5" name="bullet-text-86-200">
            <a:extLst xmlns:a="http://schemas.openxmlformats.org/drawingml/2006/main">
              <a:ext uri="{FF2B5EF4-FFF2-40B4-BE49-F238E27FC236}">
                <a16:creationId xmlns:a16="http://schemas.microsoft.com/office/drawing/2014/main" id="{F44EC16C-F52A-4834-91A3-3CE703B2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Load the trained model with joblib.</a:t>
            </a:r>
          </a:p>
        </p:txBody>
      </p:sp>
      <p:sp>
        <p:nvSpPr>
          <p:cNvPr id="6" name="bullet-86-236">
            <a:extLst xmlns:a="http://schemas.openxmlformats.org/drawingml/2006/main">
              <a:ext uri="{FF2B5EF4-FFF2-40B4-BE49-F238E27FC236}">
                <a16:creationId xmlns:a16="http://schemas.microsoft.com/office/drawing/2014/main" id="{0B230DAA-8B8E-47F3-9BAB-BC116EEA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7" name="bullet-text-86-236">
            <a:extLst xmlns:a="http://schemas.openxmlformats.org/drawingml/2006/main">
              <a:ext uri="{FF2B5EF4-FFF2-40B4-BE49-F238E27FC236}">
                <a16:creationId xmlns:a16="http://schemas.microsoft.com/office/drawing/2014/main" id="{426CBD8E-E0DA-408C-B98E-A9EE9D2B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Extract StandardScaler parameters:</a:t>
            </a:r>
          </a:p>
        </p:txBody>
      </p:sp>
      <p:sp>
        <p:nvSpPr>
          <p:cNvPr id="8" name="bullet-86-272">
            <a:extLst xmlns:a="http://schemas.openxmlformats.org/drawingml/2006/main">
              <a:ext uri="{FF2B5EF4-FFF2-40B4-BE49-F238E27FC236}">
                <a16:creationId xmlns:a16="http://schemas.microsoft.com/office/drawing/2014/main" id="{62B675A5-8F52-40F9-B239-0ECBD639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–</a:t>
            </a:r>
          </a:p>
        </p:txBody>
      </p:sp>
      <p:sp>
        <p:nvSpPr>
          <p:cNvPr id="9" name="bullet-text-86-272">
            <a:extLst xmlns:a="http://schemas.openxmlformats.org/drawingml/2006/main">
              <a:ext uri="{FF2B5EF4-FFF2-40B4-BE49-F238E27FC236}">
                <a16:creationId xmlns:a16="http://schemas.microsoft.com/office/drawing/2014/main" id="{CC025516-78BF-411D-BA4D-F0BC61F7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908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mean_</a:t>
            </a:r>
          </a:p>
        </p:txBody>
      </p:sp>
      <p:sp>
        <p:nvSpPr>
          <p:cNvPr id="10" name="bullet-86-308">
            <a:extLst xmlns:a="http://schemas.openxmlformats.org/drawingml/2006/main">
              <a:ext uri="{FF2B5EF4-FFF2-40B4-BE49-F238E27FC236}">
                <a16:creationId xmlns:a16="http://schemas.microsoft.com/office/drawing/2014/main" id="{81D7D529-CBB4-4A23-8AD8-9AC9568D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–</a:t>
            </a:r>
          </a:p>
        </p:txBody>
      </p:sp>
      <p:sp>
        <p:nvSpPr>
          <p:cNvPr id="11" name="bullet-text-86-308">
            <a:extLst xmlns:a="http://schemas.openxmlformats.org/drawingml/2006/main">
              <a:ext uri="{FF2B5EF4-FFF2-40B4-BE49-F238E27FC236}">
                <a16:creationId xmlns:a16="http://schemas.microsoft.com/office/drawing/2014/main" id="{EC4B386B-7389-4E04-85CA-AC58B629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337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scale_</a:t>
            </a:r>
          </a:p>
        </p:txBody>
      </p:sp>
      <p:sp>
        <p:nvSpPr>
          <p:cNvPr id="12" name="bullet-86-344">
            <a:extLst xmlns:a="http://schemas.openxmlformats.org/drawingml/2006/main">
              <a:ext uri="{FF2B5EF4-FFF2-40B4-BE49-F238E27FC236}">
                <a16:creationId xmlns:a16="http://schemas.microsoft.com/office/drawing/2014/main" id="{EAE81F5C-5EE7-4AD9-8FE5-5B0C7A60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3" name="bullet-text-86-344">
            <a:extLst xmlns:a="http://schemas.openxmlformats.org/drawingml/2006/main">
              <a:ext uri="{FF2B5EF4-FFF2-40B4-BE49-F238E27FC236}">
                <a16:creationId xmlns:a16="http://schemas.microsoft.com/office/drawing/2014/main" id="{AA32B495-D62D-4E2C-934D-21CD4B79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Extract Linear SVM parameters:</a:t>
            </a:r>
          </a:p>
        </p:txBody>
      </p:sp>
      <p:sp>
        <p:nvSpPr>
          <p:cNvPr id="14" name="bullet-86-380">
            <a:extLst xmlns:a="http://schemas.openxmlformats.org/drawingml/2006/main">
              <a:ext uri="{FF2B5EF4-FFF2-40B4-BE49-F238E27FC236}">
                <a16:creationId xmlns:a16="http://schemas.microsoft.com/office/drawing/2014/main" id="{C213F68F-2A82-44A4-A944-5884AE8B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195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–</a:t>
            </a:r>
          </a:p>
        </p:txBody>
      </p:sp>
      <p:sp>
        <p:nvSpPr>
          <p:cNvPr id="15" name="bullet-text-86-380">
            <a:extLst xmlns:a="http://schemas.openxmlformats.org/drawingml/2006/main">
              <a:ext uri="{FF2B5EF4-FFF2-40B4-BE49-F238E27FC236}">
                <a16:creationId xmlns:a16="http://schemas.microsoft.com/office/drawing/2014/main" id="{35D40A70-35E6-42E9-A758-AD6884AD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195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coef_</a:t>
            </a:r>
          </a:p>
        </p:txBody>
      </p:sp>
      <p:sp>
        <p:nvSpPr>
          <p:cNvPr id="16" name="bullet-86-416">
            <a:extLst xmlns:a="http://schemas.openxmlformats.org/drawingml/2006/main">
              <a:ext uri="{FF2B5EF4-FFF2-40B4-BE49-F238E27FC236}">
                <a16:creationId xmlns:a16="http://schemas.microsoft.com/office/drawing/2014/main" id="{D1CFB366-AFE9-4EE8-A48D-28813728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624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–</a:t>
            </a:r>
          </a:p>
        </p:txBody>
      </p:sp>
      <p:sp>
        <p:nvSpPr>
          <p:cNvPr id="17" name="bullet-text-86-416">
            <a:extLst xmlns:a="http://schemas.openxmlformats.org/drawingml/2006/main">
              <a:ext uri="{FF2B5EF4-FFF2-40B4-BE49-F238E27FC236}">
                <a16:creationId xmlns:a16="http://schemas.microsoft.com/office/drawing/2014/main" id="{D62C8676-A334-4383-9760-6750F955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intercept_</a:t>
            </a:r>
          </a:p>
        </p:txBody>
      </p:sp>
      <p:sp>
        <p:nvSpPr>
          <p:cNvPr id="18" name="bullet-86-452">
            <a:extLst xmlns:a="http://schemas.openxmlformats.org/drawingml/2006/main">
              <a:ext uri="{FF2B5EF4-FFF2-40B4-BE49-F238E27FC236}">
                <a16:creationId xmlns:a16="http://schemas.microsoft.com/office/drawing/2014/main" id="{B7B70C47-4455-426C-BA72-F0BC7D51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053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–</a:t>
            </a:r>
          </a:p>
        </p:txBody>
      </p:sp>
      <p:sp>
        <p:nvSpPr>
          <p:cNvPr id="19" name="bullet-text-86-452">
            <a:extLst xmlns:a="http://schemas.openxmlformats.org/drawingml/2006/main">
              <a:ext uri="{FF2B5EF4-FFF2-40B4-BE49-F238E27FC236}">
                <a16:creationId xmlns:a16="http://schemas.microsoft.com/office/drawing/2014/main" id="{55BF6E2F-B5DB-46EC-9773-DFD9EDB5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053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classes_</a:t>
            </a:r>
          </a:p>
        </p:txBody>
      </p:sp>
      <p:sp>
        <p:nvSpPr>
          <p:cNvPr id="20" name="bullet-86-488">
            <a:extLst xmlns:a="http://schemas.openxmlformats.org/drawingml/2006/main">
              <a:ext uri="{FF2B5EF4-FFF2-40B4-BE49-F238E27FC236}">
                <a16:creationId xmlns:a16="http://schemas.microsoft.com/office/drawing/2014/main" id="{E8DE8A57-9EF3-44AA-BAF3-34837AF9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21" name="bullet-text-86-488">
            <a:extLst xmlns:a="http://schemas.openxmlformats.org/drawingml/2006/main">
              <a:ext uri="{FF2B5EF4-FFF2-40B4-BE49-F238E27FC236}">
                <a16:creationId xmlns:a16="http://schemas.microsoft.com/office/drawing/2014/main" id="{AB07397B-1FB1-42DA-AF73-BFEC6601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482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Generate pure JavaScript inference code.</a:t>
            </a:r>
          </a:p>
        </p:txBody>
      </p:sp>
      <p:sp>
        <p:nvSpPr>
          <p:cNvPr id="22" name="label-Output File-536">
            <a:extLst xmlns:a="http://schemas.openxmlformats.org/drawingml/2006/main">
              <a:ext uri="{FF2B5EF4-FFF2-40B4-BE49-F238E27FC236}">
                <a16:creationId xmlns:a16="http://schemas.microsoft.com/office/drawing/2014/main" id="{68137643-92D0-4F7C-915A-2525C2A1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Output File:</a:t>
            </a:r>
          </a:p>
        </p:txBody>
      </p:sp>
      <p:sp>
        <p:nvSpPr>
          <p:cNvPr id="23" name="text-570">
            <a:extLst xmlns:a="http://schemas.openxmlformats.org/drawingml/2006/main">
              <a:ext uri="{FF2B5EF4-FFF2-40B4-BE49-F238E27FC236}">
                <a16:creationId xmlns:a16="http://schemas.microsoft.com/office/drawing/2014/main" id="{C7371D8F-ED1B-4DC6-97F1-86606C78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1036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deployment/scripts/svm_model.js</a:t>
            </a:r>
          </a:p>
        </p:txBody>
      </p:sp>
    </p:spTree>
    <p:extLst>
      <p:ext uri="{BB962C8B-B14F-4D97-AF65-F5344CB8AC3E}">
        <p14:creationId xmlns:p14="http://schemas.microsoft.com/office/powerpoint/2010/main" val="14022687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6-section">
            <a:extLst xmlns:a="http://schemas.openxmlformats.org/drawingml/2006/main">
              <a:ext uri="{FF2B5EF4-FFF2-40B4-BE49-F238E27FC236}">
                <a16:creationId xmlns:a16="http://schemas.microsoft.com/office/drawing/2014/main" id="{4029AB26-30B7-48FE-9A54-B610BDFD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Slide 6: JavaScript Model Runtime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D467DFEC-7D36-4D59-BF3A-1A7BC3E7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82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Pure JavaScript SVM Inference</a:t>
            </a:r>
          </a:p>
        </p:txBody>
      </p:sp>
      <p:sp>
        <p:nvSpPr>
          <p:cNvPr id="3" name="slide-6-rule">
            <a:extLst xmlns:a="http://schemas.openxmlformats.org/drawingml/2006/main">
              <a:ext uri="{FF2B5EF4-FFF2-40B4-BE49-F238E27FC236}">
                <a16:creationId xmlns:a16="http://schemas.microsoft.com/office/drawing/2014/main" id="{70598983-3C8D-4BB5-A03D-F2F35F50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bullet-86-200">
            <a:extLst xmlns:a="http://schemas.openxmlformats.org/drawingml/2006/main">
              <a:ext uri="{FF2B5EF4-FFF2-40B4-BE49-F238E27FC236}">
                <a16:creationId xmlns:a16="http://schemas.microsoft.com/office/drawing/2014/main" id="{C80279E5-8DB0-4F2B-A5AC-05B96074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5" name="bullet-text-86-200">
            <a:extLst xmlns:a="http://schemas.openxmlformats.org/drawingml/2006/main">
              <a:ext uri="{FF2B5EF4-FFF2-40B4-BE49-F238E27FC236}">
                <a16:creationId xmlns:a16="http://schemas.microsoft.com/office/drawing/2014/main" id="{D37ED956-A3D2-4D62-B739-AB5A1D9C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scaleFeatures(features) reproduces StandardScaler.</a:t>
            </a:r>
          </a:p>
        </p:txBody>
      </p:sp>
      <p:sp>
        <p:nvSpPr>
          <p:cNvPr id="6" name="bullet-86-236">
            <a:extLst xmlns:a="http://schemas.openxmlformats.org/drawingml/2006/main">
              <a:ext uri="{FF2B5EF4-FFF2-40B4-BE49-F238E27FC236}">
                <a16:creationId xmlns:a16="http://schemas.microsoft.com/office/drawing/2014/main" id="{27654319-D847-4FFA-9B9E-261E7F9E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7" name="bullet-text-86-236">
            <a:extLst xmlns:a="http://schemas.openxmlformats.org/drawingml/2006/main">
              <a:ext uri="{FF2B5EF4-FFF2-40B4-BE49-F238E27FC236}">
                <a16:creationId xmlns:a16="http://schemas.microsoft.com/office/drawing/2014/main" id="{8AE60B92-67E7-4CD8-AFCB-7EC68041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scoreSVM(scaledFeatures) reproduces Linear SVM scoring.</a:t>
            </a:r>
          </a:p>
        </p:txBody>
      </p:sp>
      <p:sp>
        <p:nvSpPr>
          <p:cNvPr id="8" name="bullet-86-272">
            <a:extLst xmlns:a="http://schemas.openxmlformats.org/drawingml/2006/main">
              <a:ext uri="{FF2B5EF4-FFF2-40B4-BE49-F238E27FC236}">
                <a16:creationId xmlns:a16="http://schemas.microsoft.com/office/drawing/2014/main" id="{F06966AD-AE2A-49EC-A486-ADEC3546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9" name="bullet-text-86-272">
            <a:extLst xmlns:a="http://schemas.openxmlformats.org/drawingml/2006/main">
              <a:ext uri="{FF2B5EF4-FFF2-40B4-BE49-F238E27FC236}">
                <a16:creationId xmlns:a16="http://schemas.microsoft.com/office/drawing/2014/main" id="{E0235408-61E3-4B8F-9A20-2A522281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predictPipeline(features) returns the final class.</a:t>
            </a:r>
          </a:p>
        </p:txBody>
      </p:sp>
      <p:sp>
        <p:nvSpPr>
          <p:cNvPr id="10" name="bullet-86-308">
            <a:extLst xmlns:a="http://schemas.openxmlformats.org/drawingml/2006/main">
              <a:ext uri="{FF2B5EF4-FFF2-40B4-BE49-F238E27FC236}">
                <a16:creationId xmlns:a16="http://schemas.microsoft.com/office/drawing/2014/main" id="{CF64D64C-DA90-4C70-8CC0-71FA5FE2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1" name="bullet-text-86-308">
            <a:extLst xmlns:a="http://schemas.openxmlformats.org/drawingml/2006/main">
              <a:ext uri="{FF2B5EF4-FFF2-40B4-BE49-F238E27FC236}">
                <a16:creationId xmlns:a16="http://schemas.microsoft.com/office/drawing/2014/main" id="{24201B55-8B81-4B94-A6B8-89281681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 machine learning library is required in the browser.</a:t>
            </a:r>
          </a:p>
        </p:txBody>
      </p:sp>
      <p:sp>
        <p:nvSpPr>
          <p:cNvPr id="12" name="label-Code Concept-356">
            <a:extLst xmlns:a="http://schemas.openxmlformats.org/drawingml/2006/main">
              <a:ext uri="{FF2B5EF4-FFF2-40B4-BE49-F238E27FC236}">
                <a16:creationId xmlns:a16="http://schemas.microsoft.com/office/drawing/2014/main" id="{E711009D-4308-473D-93B5-1E59854D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Code Concept:</a:t>
            </a:r>
          </a:p>
        </p:txBody>
      </p:sp>
      <p:sp>
        <p:nvSpPr>
          <p:cNvPr id="13" name="code-panel-86-390">
            <a:extLst xmlns:a="http://schemas.openxmlformats.org/drawingml/2006/main">
              <a:ext uri="{FF2B5EF4-FFF2-40B4-BE49-F238E27FC236}">
                <a16:creationId xmlns:a16="http://schemas.microsoft.com/office/drawing/2014/main" id="{605F5BEE-BBCB-4DBA-B3C0-E792D2C9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1036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4" name="code-text-86-390">
            <a:extLst xmlns:a="http://schemas.openxmlformats.org/drawingml/2006/main">
              <a:ext uri="{FF2B5EF4-FFF2-40B4-BE49-F238E27FC236}">
                <a16:creationId xmlns:a16="http://schemas.microsoft.com/office/drawing/2014/main" id="{0BD24C1B-43E6-4CBD-B96B-4CAB5F7D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1005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const prediction = predictPipeline(features);</a:t>
            </a:r>
          </a:p>
        </p:txBody>
      </p:sp>
    </p:spTree>
    <p:extLst>
      <p:ext uri="{BB962C8B-B14F-4D97-AF65-F5344CB8AC3E}">
        <p14:creationId xmlns:p14="http://schemas.microsoft.com/office/powerpoint/2010/main" val="18032652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7-section">
            <a:extLst xmlns:a="http://schemas.openxmlformats.org/drawingml/2006/main">
              <a:ext uri="{FF2B5EF4-FFF2-40B4-BE49-F238E27FC236}">
                <a16:creationId xmlns:a16="http://schemas.microsoft.com/office/drawing/2014/main" id="{C17D6988-BF03-441E-AD33-81DCB364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Slide 7: Deployment Folder Structure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457D6636-F5FB-4DD2-9E44-CADA3B41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82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Static Web App Structure</a:t>
            </a:r>
          </a:p>
        </p:txBody>
      </p:sp>
      <p:sp>
        <p:nvSpPr>
          <p:cNvPr id="3" name="slide-7-rule">
            <a:extLst xmlns:a="http://schemas.openxmlformats.org/drawingml/2006/main">
              <a:ext uri="{FF2B5EF4-FFF2-40B4-BE49-F238E27FC236}">
                <a16:creationId xmlns:a16="http://schemas.microsoft.com/office/drawing/2014/main" id="{B6C5108D-91A2-4E92-BE54-7441229A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code-panel-86-200">
            <a:extLst xmlns:a="http://schemas.openxmlformats.org/drawingml/2006/main">
              <a:ext uri="{FF2B5EF4-FFF2-40B4-BE49-F238E27FC236}">
                <a16:creationId xmlns:a16="http://schemas.microsoft.com/office/drawing/2014/main" id="{60324D6D-BA68-4548-AAF7-3FE2332F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0363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5" name="code-text-86-200">
            <a:extLst xmlns:a="http://schemas.openxmlformats.org/drawingml/2006/main">
              <a:ext uri="{FF2B5EF4-FFF2-40B4-BE49-F238E27FC236}">
                <a16:creationId xmlns:a16="http://schemas.microsoft.com/office/drawing/2014/main" id="{4BA08384-1FF6-4F51-930E-6F3E09FC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10058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deployment/scripts/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├── index.html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├── app.js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├── svm_model.js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└── favicon.svg</a:t>
            </a:r>
          </a:p>
        </p:txBody>
      </p:sp>
      <p:sp>
        <p:nvSpPr>
          <p:cNvPr id="6" name="bullet-86-414">
            <a:extLst xmlns:a="http://schemas.openxmlformats.org/drawingml/2006/main">
              <a:ext uri="{FF2B5EF4-FFF2-40B4-BE49-F238E27FC236}">
                <a16:creationId xmlns:a16="http://schemas.microsoft.com/office/drawing/2014/main" id="{B8243E75-D2F3-4859-8E6D-3CC7CAFE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7" name="bullet-text-86-414">
            <a:extLst xmlns:a="http://schemas.openxmlformats.org/drawingml/2006/main">
              <a:ext uri="{FF2B5EF4-FFF2-40B4-BE49-F238E27FC236}">
                <a16:creationId xmlns:a16="http://schemas.microsoft.com/office/drawing/2014/main" id="{0742FCE5-2355-420D-A27F-FD4CE56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index.html: UI layout, camera view, dashboard, controls</a:t>
            </a:r>
          </a:p>
        </p:txBody>
      </p:sp>
      <p:sp>
        <p:nvSpPr>
          <p:cNvPr id="8" name="bullet-86-450">
            <a:extLst xmlns:a="http://schemas.openxmlformats.org/drawingml/2006/main">
              <a:ext uri="{FF2B5EF4-FFF2-40B4-BE49-F238E27FC236}">
                <a16:creationId xmlns:a16="http://schemas.microsoft.com/office/drawing/2014/main" id="{C690A55B-F150-479B-80D9-9A9511EF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9" name="bullet-text-86-450">
            <a:extLst xmlns:a="http://schemas.openxmlformats.org/drawingml/2006/main">
              <a:ext uri="{FF2B5EF4-FFF2-40B4-BE49-F238E27FC236}">
                <a16:creationId xmlns:a16="http://schemas.microsoft.com/office/drawing/2014/main" id="{D9896AB1-4BEA-41BD-B5E5-1A1B1D89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862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app.js: webcam, MediaPipe, EAR, calibration, SVM, alerts</a:t>
            </a:r>
          </a:p>
        </p:txBody>
      </p:sp>
      <p:sp>
        <p:nvSpPr>
          <p:cNvPr id="10" name="bullet-86-486">
            <a:extLst xmlns:a="http://schemas.openxmlformats.org/drawingml/2006/main">
              <a:ext uri="{FF2B5EF4-FFF2-40B4-BE49-F238E27FC236}">
                <a16:creationId xmlns:a16="http://schemas.microsoft.com/office/drawing/2014/main" id="{2D547EFA-5C92-41C5-903F-F9DE26ED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1" name="bullet-text-86-486">
            <a:extLst xmlns:a="http://schemas.openxmlformats.org/drawingml/2006/main">
              <a:ext uri="{FF2B5EF4-FFF2-40B4-BE49-F238E27FC236}">
                <a16:creationId xmlns:a16="http://schemas.microsoft.com/office/drawing/2014/main" id="{7289948C-1448-448D-B5D5-0D7E1147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291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svm_model.js: converted Linear SVM model</a:t>
            </a:r>
          </a:p>
        </p:txBody>
      </p:sp>
      <p:sp>
        <p:nvSpPr>
          <p:cNvPr id="12" name="bullet-86-522">
            <a:extLst xmlns:a="http://schemas.openxmlformats.org/drawingml/2006/main">
              <a:ext uri="{FF2B5EF4-FFF2-40B4-BE49-F238E27FC236}">
                <a16:creationId xmlns:a16="http://schemas.microsoft.com/office/drawing/2014/main" id="{6FF85AC3-B9A7-4404-8A5F-87A14E5D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3" name="bullet-text-86-522">
            <a:extLst xmlns:a="http://schemas.openxmlformats.org/drawingml/2006/main">
              <a:ext uri="{FF2B5EF4-FFF2-40B4-BE49-F238E27FC236}">
                <a16:creationId xmlns:a16="http://schemas.microsoft.com/office/drawing/2014/main" id="{3B2981FA-0491-4F0C-9928-EF494FE8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favicon.svg: BlinkGuard shield-and-eye app icon</a:t>
            </a:r>
          </a:p>
        </p:txBody>
      </p:sp>
      <p:sp>
        <p:nvSpPr>
          <p:cNvPr id="14" name="label-Key Message-570">
            <a:extLst xmlns:a="http://schemas.openxmlformats.org/drawingml/2006/main">
              <a:ext uri="{FF2B5EF4-FFF2-40B4-BE49-F238E27FC236}">
                <a16:creationId xmlns:a16="http://schemas.microsoft.com/office/drawing/2014/main" id="{6775EC78-0617-4B8D-98EC-B4A26553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Key Message:</a:t>
            </a:r>
          </a:p>
        </p:txBody>
      </p:sp>
      <p:sp>
        <p:nvSpPr>
          <p:cNvPr id="15" name="text-604">
            <a:extLst xmlns:a="http://schemas.openxmlformats.org/drawingml/2006/main">
              <a:ext uri="{FF2B5EF4-FFF2-40B4-BE49-F238E27FC236}">
                <a16:creationId xmlns:a16="http://schemas.microsoft.com/office/drawing/2014/main" id="{398B628D-C18F-473D-A363-E9F88386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53100"/>
            <a:ext cx="1036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entire app can be deployed as static files.</a:t>
            </a:r>
          </a:p>
        </p:txBody>
      </p:sp>
    </p:spTree>
    <p:extLst>
      <p:ext uri="{BB962C8B-B14F-4D97-AF65-F5344CB8AC3E}">
        <p14:creationId xmlns:p14="http://schemas.microsoft.com/office/powerpoint/2010/main" val="11493412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8-section">
            <a:extLst xmlns:a="http://schemas.openxmlformats.org/drawingml/2006/main">
              <a:ext uri="{FF2B5EF4-FFF2-40B4-BE49-F238E27FC236}">
                <a16:creationId xmlns:a16="http://schemas.microsoft.com/office/drawing/2014/main" id="{6E438EF1-D3AC-4E80-B226-5B8F90B3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Slide 8: Runtime Architecture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1E47E807-8C0D-4C94-98B2-559BC93C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82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Real-Time Browser Pipeline</a:t>
            </a:r>
          </a:p>
        </p:txBody>
      </p:sp>
      <p:sp>
        <p:nvSpPr>
          <p:cNvPr id="3" name="slide-8-rule">
            <a:extLst xmlns:a="http://schemas.openxmlformats.org/drawingml/2006/main">
              <a:ext uri="{FF2B5EF4-FFF2-40B4-BE49-F238E27FC236}">
                <a16:creationId xmlns:a16="http://schemas.microsoft.com/office/drawing/2014/main" id="{3A7CFD3D-5C9A-4A58-BC31-D18920FA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rocess-step-1">
            <a:extLst xmlns:a="http://schemas.openxmlformats.org/drawingml/2006/main">
              <a:ext uri="{FF2B5EF4-FFF2-40B4-BE49-F238E27FC236}">
                <a16:creationId xmlns:a16="http://schemas.microsoft.com/office/drawing/2014/main" id="{1EE4A07C-FEB6-4381-B4E2-8A039686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905000"/>
            <a:ext cx="7924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5" name="process-step-text-1">
            <a:extLst xmlns:a="http://schemas.openxmlformats.org/drawingml/2006/main">
              <a:ext uri="{FF2B5EF4-FFF2-40B4-BE49-F238E27FC236}">
                <a16:creationId xmlns:a16="http://schemas.microsoft.com/office/drawing/2014/main" id="{FD9A3A13-F8B8-4329-901B-F16A2E07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71675"/>
            <a:ext cx="7543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Webcam</a:t>
            </a:r>
          </a:p>
        </p:txBody>
      </p:sp>
      <p:sp>
        <p:nvSpPr>
          <p:cNvPr id="6" name="process-arrow-1">
            <a:extLst xmlns:a="http://schemas.openxmlformats.org/drawingml/2006/main">
              <a:ext uri="{FF2B5EF4-FFF2-40B4-BE49-F238E27FC236}">
                <a16:creationId xmlns:a16="http://schemas.microsoft.com/office/drawing/2014/main" id="{04C380AF-3C4C-4F63-AB17-9D539E0E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955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7" name="process-step-2">
            <a:extLst xmlns:a="http://schemas.openxmlformats.org/drawingml/2006/main">
              <a:ext uri="{FF2B5EF4-FFF2-40B4-BE49-F238E27FC236}">
                <a16:creationId xmlns:a16="http://schemas.microsoft.com/office/drawing/2014/main" id="{6CC6E54C-C52A-4998-B316-3FB7A532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09825"/>
            <a:ext cx="7924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8" name="process-step-text-2">
            <a:extLst xmlns:a="http://schemas.openxmlformats.org/drawingml/2006/main">
              <a:ext uri="{FF2B5EF4-FFF2-40B4-BE49-F238E27FC236}">
                <a16:creationId xmlns:a16="http://schemas.microsoft.com/office/drawing/2014/main" id="{1AA0622B-29DC-441B-8E87-84DECDD8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76500"/>
            <a:ext cx="7543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MediaPipe FaceLandmarker JS</a:t>
            </a:r>
          </a:p>
        </p:txBody>
      </p:sp>
      <p:sp>
        <p:nvSpPr>
          <p:cNvPr id="9" name="process-arrow-2">
            <a:extLst xmlns:a="http://schemas.openxmlformats.org/drawingml/2006/main">
              <a:ext uri="{FF2B5EF4-FFF2-40B4-BE49-F238E27FC236}">
                <a16:creationId xmlns:a16="http://schemas.microsoft.com/office/drawing/2014/main" id="{A8542FDE-C00D-4A27-9D0A-377E8F4A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003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0" name="process-step-3">
            <a:extLst xmlns:a="http://schemas.openxmlformats.org/drawingml/2006/main">
              <a:ext uri="{FF2B5EF4-FFF2-40B4-BE49-F238E27FC236}">
                <a16:creationId xmlns:a16="http://schemas.microsoft.com/office/drawing/2014/main" id="{BC76CA13-457F-4D04-A955-9631655B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14650"/>
            <a:ext cx="7924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1" name="process-step-text-3">
            <a:extLst xmlns:a="http://schemas.openxmlformats.org/drawingml/2006/main">
              <a:ext uri="{FF2B5EF4-FFF2-40B4-BE49-F238E27FC236}">
                <a16:creationId xmlns:a16="http://schemas.microsoft.com/office/drawing/2014/main" id="{3AD9C85F-180B-46E9-8228-31E5EE72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81325"/>
            <a:ext cx="7543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Eye landmarks</a:t>
            </a:r>
          </a:p>
        </p:txBody>
      </p:sp>
      <p:sp>
        <p:nvSpPr>
          <p:cNvPr id="12" name="process-arrow-3">
            <a:extLst xmlns:a="http://schemas.openxmlformats.org/drawingml/2006/main">
              <a:ext uri="{FF2B5EF4-FFF2-40B4-BE49-F238E27FC236}">
                <a16:creationId xmlns:a16="http://schemas.microsoft.com/office/drawing/2014/main" id="{45543F0A-8899-4FE8-B08E-95423733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051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3" name="process-step-4">
            <a:extLst xmlns:a="http://schemas.openxmlformats.org/drawingml/2006/main">
              <a:ext uri="{FF2B5EF4-FFF2-40B4-BE49-F238E27FC236}">
                <a16:creationId xmlns:a16="http://schemas.microsoft.com/office/drawing/2014/main" id="{19DC1217-366E-49C2-BACB-FBDA8E08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19475"/>
            <a:ext cx="7924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4" name="process-step-text-4">
            <a:extLst xmlns:a="http://schemas.openxmlformats.org/drawingml/2006/main">
              <a:ext uri="{FF2B5EF4-FFF2-40B4-BE49-F238E27FC236}">
                <a16:creationId xmlns:a16="http://schemas.microsoft.com/office/drawing/2014/main" id="{EFC20ED8-759A-448F-AF98-91F071F8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86150"/>
            <a:ext cx="7543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EAR calculation</a:t>
            </a:r>
          </a:p>
        </p:txBody>
      </p:sp>
      <p:sp>
        <p:nvSpPr>
          <p:cNvPr id="15" name="process-arrow-4">
            <a:extLst xmlns:a="http://schemas.openxmlformats.org/drawingml/2006/main">
              <a:ext uri="{FF2B5EF4-FFF2-40B4-BE49-F238E27FC236}">
                <a16:creationId xmlns:a16="http://schemas.microsoft.com/office/drawing/2014/main" id="{B2D62313-3CDF-452B-AAAD-50F09F9E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100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6" name="process-step-5">
            <a:extLst xmlns:a="http://schemas.openxmlformats.org/drawingml/2006/main">
              <a:ext uri="{FF2B5EF4-FFF2-40B4-BE49-F238E27FC236}">
                <a16:creationId xmlns:a16="http://schemas.microsoft.com/office/drawing/2014/main" id="{5AD84438-907F-4B16-BA56-8016E575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24300"/>
            <a:ext cx="7924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7" name="process-step-text-5">
            <a:extLst xmlns:a="http://schemas.openxmlformats.org/drawingml/2006/main">
              <a:ext uri="{FF2B5EF4-FFF2-40B4-BE49-F238E27FC236}">
                <a16:creationId xmlns:a16="http://schemas.microsoft.com/office/drawing/2014/main" id="{B265D417-B297-4619-B133-CE6D0EAC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90975"/>
            <a:ext cx="7543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Dynamic calibration</a:t>
            </a:r>
          </a:p>
        </p:txBody>
      </p:sp>
      <p:sp>
        <p:nvSpPr>
          <p:cNvPr id="18" name="process-arrow-5">
            <a:extLst xmlns:a="http://schemas.openxmlformats.org/drawingml/2006/main">
              <a:ext uri="{FF2B5EF4-FFF2-40B4-BE49-F238E27FC236}">
                <a16:creationId xmlns:a16="http://schemas.microsoft.com/office/drawing/2014/main" id="{B4CBF9DC-5F2C-47B6-BADB-62F64F53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148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9" name="process-step-6">
            <a:extLst xmlns:a="http://schemas.openxmlformats.org/drawingml/2006/main">
              <a:ext uri="{FF2B5EF4-FFF2-40B4-BE49-F238E27FC236}">
                <a16:creationId xmlns:a16="http://schemas.microsoft.com/office/drawing/2014/main" id="{456327D3-9651-4CBA-A18E-75D6CD4B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429125"/>
            <a:ext cx="7924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0" name="process-step-text-6">
            <a:extLst xmlns:a="http://schemas.openxmlformats.org/drawingml/2006/main">
              <a:ext uri="{FF2B5EF4-FFF2-40B4-BE49-F238E27FC236}">
                <a16:creationId xmlns:a16="http://schemas.microsoft.com/office/drawing/2014/main" id="{D906CF9B-AFD3-4004-8F1A-9B189FC4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95800"/>
            <a:ext cx="7543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7-frame sliding window</a:t>
            </a:r>
          </a:p>
        </p:txBody>
      </p:sp>
      <p:sp>
        <p:nvSpPr>
          <p:cNvPr id="21" name="process-arrow-6">
            <a:extLst xmlns:a="http://schemas.openxmlformats.org/drawingml/2006/main">
              <a:ext uri="{FF2B5EF4-FFF2-40B4-BE49-F238E27FC236}">
                <a16:creationId xmlns:a16="http://schemas.microsoft.com/office/drawing/2014/main" id="{4E661664-D611-423A-9A11-777EC6D1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196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22" name="process-step-7">
            <a:extLst xmlns:a="http://schemas.openxmlformats.org/drawingml/2006/main">
              <a:ext uri="{FF2B5EF4-FFF2-40B4-BE49-F238E27FC236}">
                <a16:creationId xmlns:a16="http://schemas.microsoft.com/office/drawing/2014/main" id="{84E8EF5F-D7A4-4A84-A871-FF96FBA5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33950"/>
            <a:ext cx="7924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3" name="process-step-text-7">
            <a:extLst xmlns:a="http://schemas.openxmlformats.org/drawingml/2006/main">
              <a:ext uri="{FF2B5EF4-FFF2-40B4-BE49-F238E27FC236}">
                <a16:creationId xmlns:a16="http://schemas.microsoft.com/office/drawing/2014/main" id="{49F86C8D-4AA5-4AD6-A5ED-F7E55633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00625"/>
            <a:ext cx="7543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Hybrid filter / SVM inference</a:t>
            </a:r>
          </a:p>
        </p:txBody>
      </p:sp>
      <p:sp>
        <p:nvSpPr>
          <p:cNvPr id="24" name="process-arrow-7">
            <a:extLst xmlns:a="http://schemas.openxmlformats.org/drawingml/2006/main">
              <a:ext uri="{FF2B5EF4-FFF2-40B4-BE49-F238E27FC236}">
                <a16:creationId xmlns:a16="http://schemas.microsoft.com/office/drawing/2014/main" id="{5133C1CD-233B-458B-8127-015E8098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244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25" name="process-step-8">
            <a:extLst xmlns:a="http://schemas.openxmlformats.org/drawingml/2006/main">
              <a:ext uri="{FF2B5EF4-FFF2-40B4-BE49-F238E27FC236}">
                <a16:creationId xmlns:a16="http://schemas.microsoft.com/office/drawing/2014/main" id="{C612B313-B0EE-4779-81CA-2B2A3EC3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438775"/>
            <a:ext cx="7924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6" name="process-step-text-8">
            <a:extLst xmlns:a="http://schemas.openxmlformats.org/drawingml/2006/main">
              <a:ext uri="{FF2B5EF4-FFF2-40B4-BE49-F238E27FC236}">
                <a16:creationId xmlns:a16="http://schemas.microsoft.com/office/drawing/2014/main" id="{F4A39EE7-E70B-4E71-BFB1-479668A5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05450"/>
            <a:ext cx="7543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Blink and drowsiness logic</a:t>
            </a:r>
          </a:p>
        </p:txBody>
      </p:sp>
      <p:sp>
        <p:nvSpPr>
          <p:cNvPr id="27" name="process-arrow-8">
            <a:extLst xmlns:a="http://schemas.openxmlformats.org/drawingml/2006/main">
              <a:ext uri="{FF2B5EF4-FFF2-40B4-BE49-F238E27FC236}">
                <a16:creationId xmlns:a16="http://schemas.microsoft.com/office/drawing/2014/main" id="{49FB92A8-1792-45AE-AF0F-45E3B27E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8293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28" name="process-step-9">
            <a:extLst xmlns:a="http://schemas.openxmlformats.org/drawingml/2006/main">
              <a:ext uri="{FF2B5EF4-FFF2-40B4-BE49-F238E27FC236}">
                <a16:creationId xmlns:a16="http://schemas.microsoft.com/office/drawing/2014/main" id="{F56DF855-F46C-48FA-9155-299ED108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943600"/>
            <a:ext cx="7924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9" name="process-step-text-9">
            <a:extLst xmlns:a="http://schemas.openxmlformats.org/drawingml/2006/main">
              <a:ext uri="{FF2B5EF4-FFF2-40B4-BE49-F238E27FC236}">
                <a16:creationId xmlns:a16="http://schemas.microsoft.com/office/drawing/2014/main" id="{BC6AEB9F-0FBE-4CA4-B7B4-4AE37FF2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010275"/>
            <a:ext cx="7543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Dashboard + notifications</a:t>
            </a:r>
          </a:p>
        </p:txBody>
      </p:sp>
    </p:spTree>
    <p:extLst>
      <p:ext uri="{BB962C8B-B14F-4D97-AF65-F5344CB8AC3E}">
        <p14:creationId xmlns:p14="http://schemas.microsoft.com/office/powerpoint/2010/main" val="15384686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9-section">
            <a:extLst xmlns:a="http://schemas.openxmlformats.org/drawingml/2006/main">
              <a:ext uri="{FF2B5EF4-FFF2-40B4-BE49-F238E27FC236}">
                <a16:creationId xmlns:a16="http://schemas.microsoft.com/office/drawing/2014/main" id="{E6123FA1-7348-4B99-9C04-A024F213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Slide 9: Eye Tracking with MediaPipe JS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CD97F197-C893-46A4-8C36-26C47BBF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82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Browser-Based Face and Eye Tracking</a:t>
            </a:r>
          </a:p>
        </p:txBody>
      </p:sp>
      <p:sp>
        <p:nvSpPr>
          <p:cNvPr id="3" name="slide-9-rule">
            <a:extLst xmlns:a="http://schemas.openxmlformats.org/drawingml/2006/main">
              <a:ext uri="{FF2B5EF4-FFF2-40B4-BE49-F238E27FC236}">
                <a16:creationId xmlns:a16="http://schemas.microsoft.com/office/drawing/2014/main" id="{F83618D3-754A-4F97-AE1E-EE4FF718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bullet-86-200">
            <a:extLst xmlns:a="http://schemas.openxmlformats.org/drawingml/2006/main">
              <a:ext uri="{FF2B5EF4-FFF2-40B4-BE49-F238E27FC236}">
                <a16:creationId xmlns:a16="http://schemas.microsoft.com/office/drawing/2014/main" id="{965F1889-0441-4D25-A5BC-FD64E1B4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5" name="bullet-text-86-200">
            <a:extLst xmlns:a="http://schemas.openxmlformats.org/drawingml/2006/main">
              <a:ext uri="{FF2B5EF4-FFF2-40B4-BE49-F238E27FC236}">
                <a16:creationId xmlns:a16="http://schemas.microsoft.com/office/drawing/2014/main" id="{D9B7F2C2-7CCE-4C14-B072-889504F2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Uses @mediapipe/tasks-vision.</a:t>
            </a:r>
          </a:p>
        </p:txBody>
      </p:sp>
      <p:sp>
        <p:nvSpPr>
          <p:cNvPr id="6" name="bullet-86-236">
            <a:extLst xmlns:a="http://schemas.openxmlformats.org/drawingml/2006/main">
              <a:ext uri="{FF2B5EF4-FFF2-40B4-BE49-F238E27FC236}">
                <a16:creationId xmlns:a16="http://schemas.microsoft.com/office/drawing/2014/main" id="{C10398C4-EA0A-47CA-9690-B6ADB7FF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7" name="bullet-text-86-236">
            <a:extLst xmlns:a="http://schemas.openxmlformats.org/drawingml/2006/main">
              <a:ext uri="{FF2B5EF4-FFF2-40B4-BE49-F238E27FC236}">
                <a16:creationId xmlns:a16="http://schemas.microsoft.com/office/drawing/2014/main" id="{8EC2854D-3A2D-4AFF-AA72-4019942A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Runs FaceLandmarker in video mode.</a:t>
            </a:r>
          </a:p>
        </p:txBody>
      </p:sp>
      <p:sp>
        <p:nvSpPr>
          <p:cNvPr id="8" name="bullet-86-272">
            <a:extLst xmlns:a="http://schemas.openxmlformats.org/drawingml/2006/main">
              <a:ext uri="{FF2B5EF4-FFF2-40B4-BE49-F238E27FC236}">
                <a16:creationId xmlns:a16="http://schemas.microsoft.com/office/drawing/2014/main" id="{481AA26E-A0D6-4CF5-8C6C-CD646E15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9" name="bullet-text-86-272">
            <a:extLst xmlns:a="http://schemas.openxmlformats.org/drawingml/2006/main">
              <a:ext uri="{FF2B5EF4-FFF2-40B4-BE49-F238E27FC236}">
                <a16:creationId xmlns:a16="http://schemas.microsoft.com/office/drawing/2014/main" id="{65B7E78C-CBA3-4602-9AD1-3EBE7ECB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Extracts facial landmarks directly from the webcam stream.</a:t>
            </a:r>
          </a:p>
        </p:txBody>
      </p:sp>
      <p:sp>
        <p:nvSpPr>
          <p:cNvPr id="10" name="bullet-86-308">
            <a:extLst xmlns:a="http://schemas.openxmlformats.org/drawingml/2006/main">
              <a:ext uri="{FF2B5EF4-FFF2-40B4-BE49-F238E27FC236}">
                <a16:creationId xmlns:a16="http://schemas.microsoft.com/office/drawing/2014/main" id="{02D208F8-DC76-41B4-BC9D-4F28E9DC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1" name="bullet-text-86-308">
            <a:extLst xmlns:a="http://schemas.openxmlformats.org/drawingml/2006/main">
              <a:ext uri="{FF2B5EF4-FFF2-40B4-BE49-F238E27FC236}">
                <a16:creationId xmlns:a16="http://schemas.microsoft.com/office/drawing/2014/main" id="{C3F70D4B-9DA1-4907-A5FB-B219C7BF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 video frame is uploaded to a server.</a:t>
            </a:r>
          </a:p>
        </p:txBody>
      </p:sp>
      <p:sp>
        <p:nvSpPr>
          <p:cNvPr id="12" name="bullet-86-344">
            <a:extLst xmlns:a="http://schemas.openxmlformats.org/drawingml/2006/main">
              <a:ext uri="{FF2B5EF4-FFF2-40B4-BE49-F238E27FC236}">
                <a16:creationId xmlns:a16="http://schemas.microsoft.com/office/drawing/2014/main" id="{C3E0116E-B478-4468-BB19-B1130812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3" name="bullet-text-86-344">
            <a:extLst xmlns:a="http://schemas.openxmlformats.org/drawingml/2006/main">
              <a:ext uri="{FF2B5EF4-FFF2-40B4-BE49-F238E27FC236}">
                <a16:creationId xmlns:a16="http://schemas.microsoft.com/office/drawing/2014/main" id="{D5D09090-3550-45C6-9E8B-61D1D8AB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MediaPipe assets are loaded from CDN for MVP simplicity.</a:t>
            </a:r>
          </a:p>
        </p:txBody>
      </p:sp>
      <p:sp>
        <p:nvSpPr>
          <p:cNvPr id="14" name="label-Production Note-392">
            <a:extLst xmlns:a="http://schemas.openxmlformats.org/drawingml/2006/main">
              <a:ext uri="{FF2B5EF4-FFF2-40B4-BE49-F238E27FC236}">
                <a16:creationId xmlns:a16="http://schemas.microsoft.com/office/drawing/2014/main" id="{448390A0-61D6-4A9F-8A59-01474445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Production Note:</a:t>
            </a:r>
          </a:p>
        </p:txBody>
      </p:sp>
      <p:sp>
        <p:nvSpPr>
          <p:cNvPr id="15" name="text-426">
            <a:extLst xmlns:a="http://schemas.openxmlformats.org/drawingml/2006/main">
              <a:ext uri="{FF2B5EF4-FFF2-40B4-BE49-F238E27FC236}">
                <a16:creationId xmlns:a16="http://schemas.microsoft.com/office/drawing/2014/main" id="{5E91CEED-55A8-40E8-84B6-C7C76A47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1036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MediaPipe WASM/model files can be self-hosted later to reduce CDN dependency.</a:t>
            </a:r>
          </a:p>
        </p:txBody>
      </p:sp>
    </p:spTree>
    <p:extLst>
      <p:ext uri="{BB962C8B-B14F-4D97-AF65-F5344CB8AC3E}">
        <p14:creationId xmlns:p14="http://schemas.microsoft.com/office/powerpoint/2010/main" val="5633471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0-section">
            <a:extLst xmlns:a="http://schemas.openxmlformats.org/drawingml/2006/main">
              <a:ext uri="{FF2B5EF4-FFF2-40B4-BE49-F238E27FC236}">
                <a16:creationId xmlns:a16="http://schemas.microsoft.com/office/drawing/2014/main" id="{E6DFADC5-B2B9-4D3D-BC8B-E1A04FCB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Slide 10: EAR Calculation in the Browser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7DED6BDB-1F4F-496C-9BE3-88C9C5EF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82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Eye Aspect Ratio on Web Landmarks</a:t>
            </a:r>
          </a:p>
        </p:txBody>
      </p:sp>
      <p:sp>
        <p:nvSpPr>
          <p:cNvPr id="3" name="slide-10-rule">
            <a:extLst xmlns:a="http://schemas.openxmlformats.org/drawingml/2006/main">
              <a:ext uri="{FF2B5EF4-FFF2-40B4-BE49-F238E27FC236}">
                <a16:creationId xmlns:a16="http://schemas.microsoft.com/office/drawing/2014/main" id="{691A71F0-ECAB-4DE4-A752-951985A4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bullet-86-200">
            <a:extLst xmlns:a="http://schemas.openxmlformats.org/drawingml/2006/main">
              <a:ext uri="{FF2B5EF4-FFF2-40B4-BE49-F238E27FC236}">
                <a16:creationId xmlns:a16="http://schemas.microsoft.com/office/drawing/2014/main" id="{7C178DB9-8619-4B0F-B1A1-4CB69631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5" name="bullet-text-86-200">
            <a:extLst xmlns:a="http://schemas.openxmlformats.org/drawingml/2006/main">
              <a:ext uri="{FF2B5EF4-FFF2-40B4-BE49-F238E27FC236}">
                <a16:creationId xmlns:a16="http://schemas.microsoft.com/office/drawing/2014/main" id="{1FEAF820-A6D4-4627-BB82-12A70AAD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Left eye landmarks:</a:t>
            </a:r>
          </a:p>
        </p:txBody>
      </p:sp>
      <p:sp>
        <p:nvSpPr>
          <p:cNvPr id="6" name="bullet-86-236">
            <a:extLst xmlns:a="http://schemas.openxmlformats.org/drawingml/2006/main">
              <a:ext uri="{FF2B5EF4-FFF2-40B4-BE49-F238E27FC236}">
                <a16:creationId xmlns:a16="http://schemas.microsoft.com/office/drawing/2014/main" id="{0B198D7B-6460-4C0B-98B5-AD382F26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–</a:t>
            </a:r>
          </a:p>
        </p:txBody>
      </p:sp>
      <p:sp>
        <p:nvSpPr>
          <p:cNvPr id="7" name="bullet-text-86-236">
            <a:extLst xmlns:a="http://schemas.openxmlformats.org/drawingml/2006/main">
              <a:ext uri="{FF2B5EF4-FFF2-40B4-BE49-F238E27FC236}">
                <a16:creationId xmlns:a16="http://schemas.microsoft.com/office/drawing/2014/main" id="{421C5B60-C123-4320-AFA8-89FD53F8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479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[33, 160, 158, 133, 153, 144]</a:t>
            </a:r>
          </a:p>
        </p:txBody>
      </p:sp>
      <p:sp>
        <p:nvSpPr>
          <p:cNvPr id="8" name="bullet-86-272">
            <a:extLst xmlns:a="http://schemas.openxmlformats.org/drawingml/2006/main">
              <a:ext uri="{FF2B5EF4-FFF2-40B4-BE49-F238E27FC236}">
                <a16:creationId xmlns:a16="http://schemas.microsoft.com/office/drawing/2014/main" id="{EEF950DA-6CD3-419C-A7BF-D7D6599B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9" name="bullet-text-86-272">
            <a:extLst xmlns:a="http://schemas.openxmlformats.org/drawingml/2006/main">
              <a:ext uri="{FF2B5EF4-FFF2-40B4-BE49-F238E27FC236}">
                <a16:creationId xmlns:a16="http://schemas.microsoft.com/office/drawing/2014/main" id="{9F42C347-99AB-4C87-BF06-C8AFF6F1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Right eye landmarks:</a:t>
            </a:r>
          </a:p>
        </p:txBody>
      </p:sp>
      <p:sp>
        <p:nvSpPr>
          <p:cNvPr id="10" name="bullet-86-308">
            <a:extLst xmlns:a="http://schemas.openxmlformats.org/drawingml/2006/main">
              <a:ext uri="{FF2B5EF4-FFF2-40B4-BE49-F238E27FC236}">
                <a16:creationId xmlns:a16="http://schemas.microsoft.com/office/drawing/2014/main" id="{1F116248-0457-4BD2-868D-55265D4A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–</a:t>
            </a:r>
          </a:p>
        </p:txBody>
      </p:sp>
      <p:sp>
        <p:nvSpPr>
          <p:cNvPr id="11" name="bullet-text-86-308">
            <a:extLst xmlns:a="http://schemas.openxmlformats.org/drawingml/2006/main">
              <a:ext uri="{FF2B5EF4-FFF2-40B4-BE49-F238E27FC236}">
                <a16:creationId xmlns:a16="http://schemas.microsoft.com/office/drawing/2014/main" id="{5F0D9F46-20A0-44C1-A0F5-BAA79FF5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337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[362, 385, 387, 263, 373, 380]</a:t>
            </a:r>
          </a:p>
        </p:txBody>
      </p:sp>
      <p:sp>
        <p:nvSpPr>
          <p:cNvPr id="12" name="bullet-86-344">
            <a:extLst xmlns:a="http://schemas.openxmlformats.org/drawingml/2006/main">
              <a:ext uri="{FF2B5EF4-FFF2-40B4-BE49-F238E27FC236}">
                <a16:creationId xmlns:a16="http://schemas.microsoft.com/office/drawing/2014/main" id="{122E23E4-4126-4D0C-B13C-85FA2954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3" name="bullet-text-86-344">
            <a:extLst xmlns:a="http://schemas.openxmlformats.org/drawingml/2006/main">
              <a:ext uri="{FF2B5EF4-FFF2-40B4-BE49-F238E27FC236}">
                <a16:creationId xmlns:a16="http://schemas.microsoft.com/office/drawing/2014/main" id="{8D4EB0A6-563F-41BA-86AD-F0B73027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EAR formula:</a:t>
            </a:r>
          </a:p>
        </p:txBody>
      </p:sp>
      <p:sp>
        <p:nvSpPr>
          <p:cNvPr id="14" name="code-panel-86-390">
            <a:extLst xmlns:a="http://schemas.openxmlformats.org/drawingml/2006/main">
              <a:ext uri="{FF2B5EF4-FFF2-40B4-BE49-F238E27FC236}">
                <a16:creationId xmlns:a16="http://schemas.microsoft.com/office/drawing/2014/main" id="{8D59ED31-363F-4181-BCBD-5433E812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1036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5" name="code-text-86-390">
            <a:extLst xmlns:a="http://schemas.openxmlformats.org/drawingml/2006/main">
              <a:ext uri="{FF2B5EF4-FFF2-40B4-BE49-F238E27FC236}">
                <a16:creationId xmlns:a16="http://schemas.microsoft.com/office/drawing/2014/main" id="{5391A296-69BC-41E0-BCF8-3C8E9B66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1005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EAR = (||p2 - p6|| + ||p3 - p5||) / (2 * ||p1 - p4||)</a:t>
            </a:r>
          </a:p>
        </p:txBody>
      </p:sp>
      <p:sp>
        <p:nvSpPr>
          <p:cNvPr id="16" name="bullet-86-460">
            <a:extLst xmlns:a="http://schemas.openxmlformats.org/drawingml/2006/main">
              <a:ext uri="{FF2B5EF4-FFF2-40B4-BE49-F238E27FC236}">
                <a16:creationId xmlns:a16="http://schemas.microsoft.com/office/drawing/2014/main" id="{772C9A53-7B8B-45B0-ADFA-B438D46D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7" name="bullet-text-86-460">
            <a:extLst xmlns:a="http://schemas.openxmlformats.org/drawingml/2006/main">
              <a:ext uri="{FF2B5EF4-FFF2-40B4-BE49-F238E27FC236}">
                <a16:creationId xmlns:a16="http://schemas.microsoft.com/office/drawing/2014/main" id="{E49998B8-6F21-4BE2-902B-65534A03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Final raw EAR:</a:t>
            </a:r>
          </a:p>
        </p:txBody>
      </p:sp>
      <p:sp>
        <p:nvSpPr>
          <p:cNvPr id="18" name="code-panel-86-506">
            <a:extLst xmlns:a="http://schemas.openxmlformats.org/drawingml/2006/main">
              <a:ext uri="{FF2B5EF4-FFF2-40B4-BE49-F238E27FC236}">
                <a16:creationId xmlns:a16="http://schemas.microsoft.com/office/drawing/2014/main" id="{949DD0B6-0E2F-4C2E-8F1F-23840792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1036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9" name="code-text-86-506">
            <a:extLst xmlns:a="http://schemas.openxmlformats.org/drawingml/2006/main">
              <a:ext uri="{FF2B5EF4-FFF2-40B4-BE49-F238E27FC236}">
                <a16:creationId xmlns:a16="http://schemas.microsoft.com/office/drawing/2014/main" id="{C48483F6-2158-4640-863B-3004B9F5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14900"/>
            <a:ext cx="1005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rawEAR = Math.min(leftEAR, rightEAR);</a:t>
            </a:r>
          </a:p>
        </p:txBody>
      </p:sp>
      <p:sp>
        <p:nvSpPr>
          <p:cNvPr id="20" name="label-Reason-578">
            <a:extLst xmlns:a="http://schemas.openxmlformats.org/drawingml/2006/main">
              <a:ext uri="{FF2B5EF4-FFF2-40B4-BE49-F238E27FC236}">
                <a16:creationId xmlns:a16="http://schemas.microsoft.com/office/drawing/2014/main" id="{07F038EA-7EF4-42B2-8592-CA11DF53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Reason:</a:t>
            </a:r>
          </a:p>
        </p:txBody>
      </p:sp>
      <p:sp>
        <p:nvSpPr>
          <p:cNvPr id="21" name="text-612">
            <a:extLst xmlns:a="http://schemas.openxmlformats.org/drawingml/2006/main">
              <a:ext uri="{FF2B5EF4-FFF2-40B4-BE49-F238E27FC236}">
                <a16:creationId xmlns:a16="http://schemas.microsoft.com/office/drawing/2014/main" id="{372AAADC-1829-447D-85AA-E2AE9F37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1036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Using the smaller EAR improves sensitivity when one eye is partially occluded or estimated incorrectly.</a:t>
            </a:r>
          </a:p>
        </p:txBody>
      </p:sp>
    </p:spTree>
    <p:extLst>
      <p:ext uri="{BB962C8B-B14F-4D97-AF65-F5344CB8AC3E}">
        <p14:creationId xmlns:p14="http://schemas.microsoft.com/office/powerpoint/2010/main" val="6987741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1-section">
            <a:extLst xmlns:a="http://schemas.openxmlformats.org/drawingml/2006/main">
              <a:ext uri="{FF2B5EF4-FFF2-40B4-BE49-F238E27FC236}">
                <a16:creationId xmlns:a16="http://schemas.microsoft.com/office/drawing/2014/main" id="{55AD89BA-F74A-4A53-8FDE-CF2405AE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Slide 11: Dynamic Calibration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3C32AFD1-98CA-4EE9-B1BF-088944E8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82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Personalized EAR Normalization</a:t>
            </a:r>
          </a:p>
        </p:txBody>
      </p:sp>
      <p:sp>
        <p:nvSpPr>
          <p:cNvPr id="3" name="slide-11-rule">
            <a:extLst xmlns:a="http://schemas.openxmlformats.org/drawingml/2006/main">
              <a:ext uri="{FF2B5EF4-FFF2-40B4-BE49-F238E27FC236}">
                <a16:creationId xmlns:a16="http://schemas.microsoft.com/office/drawing/2014/main" id="{63AAE128-2532-4E2F-9F9E-CEFAFC58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bullet-86-200">
            <a:extLst xmlns:a="http://schemas.openxmlformats.org/drawingml/2006/main">
              <a:ext uri="{FF2B5EF4-FFF2-40B4-BE49-F238E27FC236}">
                <a16:creationId xmlns:a16="http://schemas.microsoft.com/office/drawing/2014/main" id="{BCEB3BB2-8013-482B-93E3-5B7C4500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5" name="bullet-text-86-200">
            <a:extLst xmlns:a="http://schemas.openxmlformats.org/drawingml/2006/main">
              <a:ext uri="{FF2B5EF4-FFF2-40B4-BE49-F238E27FC236}">
                <a16:creationId xmlns:a16="http://schemas.microsoft.com/office/drawing/2014/main" id="{CA4C895A-753A-4C87-8FCF-E5404153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app collects the first 15 EAR samples.</a:t>
            </a:r>
          </a:p>
        </p:txBody>
      </p:sp>
      <p:sp>
        <p:nvSpPr>
          <p:cNvPr id="6" name="bullet-86-236">
            <a:extLst xmlns:a="http://schemas.openxmlformats.org/drawingml/2006/main">
              <a:ext uri="{FF2B5EF4-FFF2-40B4-BE49-F238E27FC236}">
                <a16:creationId xmlns:a16="http://schemas.microsoft.com/office/drawing/2014/main" id="{8DA389D3-51FE-48BB-ACE0-95D73E4C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7" name="bullet-text-86-236">
            <a:extLst xmlns:a="http://schemas.openxmlformats.org/drawingml/2006/main">
              <a:ext uri="{FF2B5EF4-FFF2-40B4-BE49-F238E27FC236}">
                <a16:creationId xmlns:a16="http://schemas.microsoft.com/office/drawing/2014/main" id="{7CBD1609-4A20-46FD-B172-D7A6D1F1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Initial baseline:</a:t>
            </a:r>
          </a:p>
        </p:txBody>
      </p:sp>
      <p:sp>
        <p:nvSpPr>
          <p:cNvPr id="8" name="code-panel-86-282">
            <a:extLst xmlns:a="http://schemas.openxmlformats.org/drawingml/2006/main">
              <a:ext uri="{FF2B5EF4-FFF2-40B4-BE49-F238E27FC236}">
                <a16:creationId xmlns:a16="http://schemas.microsoft.com/office/drawing/2014/main" id="{8B3ACA0F-971A-4C77-9555-C7C49382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036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9" name="code-text-86-282">
            <a:extLst xmlns:a="http://schemas.openxmlformats.org/drawingml/2006/main">
              <a:ext uri="{FF2B5EF4-FFF2-40B4-BE49-F238E27FC236}">
                <a16:creationId xmlns:a16="http://schemas.microsoft.com/office/drawing/2014/main" id="{39A55857-0CBF-4346-A18F-822CF01E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1005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currentMax = max(first 15 raw EAR values)</a:t>
            </a:r>
          </a:p>
        </p:txBody>
      </p:sp>
      <p:sp>
        <p:nvSpPr>
          <p:cNvPr id="10" name="bullet-86-352">
            <a:extLst xmlns:a="http://schemas.openxmlformats.org/drawingml/2006/main">
              <a:ext uri="{FF2B5EF4-FFF2-40B4-BE49-F238E27FC236}">
                <a16:creationId xmlns:a16="http://schemas.microsoft.com/office/drawing/2014/main" id="{A4083E3C-B74F-4E39-BA81-1B838A2D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1" name="bullet-text-86-352">
            <a:extLst xmlns:a="http://schemas.openxmlformats.org/drawingml/2006/main">
              <a:ext uri="{FF2B5EF4-FFF2-40B4-BE49-F238E27FC236}">
                <a16:creationId xmlns:a16="http://schemas.microsoft.com/office/drawing/2014/main" id="{24595D37-4EAD-4E26-8190-17458638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528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Fallback baseline:</a:t>
            </a:r>
          </a:p>
        </p:txBody>
      </p:sp>
      <p:sp>
        <p:nvSpPr>
          <p:cNvPr id="12" name="code-panel-86-398">
            <a:extLst xmlns:a="http://schemas.openxmlformats.org/drawingml/2006/main">
              <a:ext uri="{FF2B5EF4-FFF2-40B4-BE49-F238E27FC236}">
                <a16:creationId xmlns:a16="http://schemas.microsoft.com/office/drawing/2014/main" id="{C6B0F10D-AD2D-4354-82EF-2ECCC1D6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1036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3" name="code-text-86-398">
            <a:extLst xmlns:a="http://schemas.openxmlformats.org/drawingml/2006/main">
              <a:ext uri="{FF2B5EF4-FFF2-40B4-BE49-F238E27FC236}">
                <a16:creationId xmlns:a16="http://schemas.microsoft.com/office/drawing/2014/main" id="{0C6B6789-1373-4F4B-866A-434183E8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1005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0.23</a:t>
            </a:r>
          </a:p>
        </p:txBody>
      </p:sp>
      <p:sp>
        <p:nvSpPr>
          <p:cNvPr id="14" name="bullet-86-468">
            <a:extLst xmlns:a="http://schemas.openxmlformats.org/drawingml/2006/main">
              <a:ext uri="{FF2B5EF4-FFF2-40B4-BE49-F238E27FC236}">
                <a16:creationId xmlns:a16="http://schemas.microsoft.com/office/drawing/2014/main" id="{D3C3F1E6-73A8-4BC6-9CB9-E829B32A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5" name="bullet-text-86-468">
            <a:extLst xmlns:a="http://schemas.openxmlformats.org/drawingml/2006/main">
              <a:ext uri="{FF2B5EF4-FFF2-40B4-BE49-F238E27FC236}">
                <a16:creationId xmlns:a16="http://schemas.microsoft.com/office/drawing/2014/main" id="{74C98D4B-E31C-4972-AB6D-423A922B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During runtime, the baseline is updated with expanding max.</a:t>
            </a:r>
          </a:p>
        </p:txBody>
      </p:sp>
      <p:sp>
        <p:nvSpPr>
          <p:cNvPr id="16" name="bullet-86-504">
            <a:extLst xmlns:a="http://schemas.openxmlformats.org/drawingml/2006/main">
              <a:ext uri="{FF2B5EF4-FFF2-40B4-BE49-F238E27FC236}">
                <a16:creationId xmlns:a16="http://schemas.microsoft.com/office/drawing/2014/main" id="{74B09490-0A27-475C-BACA-A496B509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7" name="bullet-text-86-504">
            <a:extLst xmlns:a="http://schemas.openxmlformats.org/drawingml/2006/main">
              <a:ext uri="{FF2B5EF4-FFF2-40B4-BE49-F238E27FC236}">
                <a16:creationId xmlns:a16="http://schemas.microsoft.com/office/drawing/2014/main" id="{0E8E69EF-F75A-446E-B647-C3A294DA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006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Normalized EAR:</a:t>
            </a:r>
          </a:p>
        </p:txBody>
      </p:sp>
      <p:sp>
        <p:nvSpPr>
          <p:cNvPr id="18" name="code-panel-86-550">
            <a:extLst xmlns:a="http://schemas.openxmlformats.org/drawingml/2006/main">
              <a:ext uri="{FF2B5EF4-FFF2-40B4-BE49-F238E27FC236}">
                <a16:creationId xmlns:a16="http://schemas.microsoft.com/office/drawing/2014/main" id="{E01DD878-4354-4E42-AD55-63680AF8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1036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9" name="code-text-86-550">
            <a:extLst xmlns:a="http://schemas.openxmlformats.org/drawingml/2006/main">
              <a:ext uri="{FF2B5EF4-FFF2-40B4-BE49-F238E27FC236}">
                <a16:creationId xmlns:a16="http://schemas.microsoft.com/office/drawing/2014/main" id="{AF007FC1-375D-495A-A9EA-2EC5243E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34000"/>
            <a:ext cx="1005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earNorm = rawEAR / currentMax;</a:t>
            </a:r>
          </a:p>
        </p:txBody>
      </p:sp>
      <p:sp>
        <p:nvSpPr>
          <p:cNvPr id="20" name="label-Key Message-622">
            <a:extLst xmlns:a="http://schemas.openxmlformats.org/drawingml/2006/main">
              <a:ext uri="{FF2B5EF4-FFF2-40B4-BE49-F238E27FC236}">
                <a16:creationId xmlns:a16="http://schemas.microsoft.com/office/drawing/2014/main" id="{BFBC193D-5141-441C-A27F-F949017D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2455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Key Message:</a:t>
            </a:r>
          </a:p>
        </p:txBody>
      </p:sp>
      <p:sp>
        <p:nvSpPr>
          <p:cNvPr id="21" name="text-656">
            <a:extLst xmlns:a="http://schemas.openxmlformats.org/drawingml/2006/main">
              <a:ext uri="{FF2B5EF4-FFF2-40B4-BE49-F238E27FC236}">
                <a16:creationId xmlns:a16="http://schemas.microsoft.com/office/drawing/2014/main" id="{E5C5BFCB-1092-4658-83C6-31390D5F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48400"/>
            <a:ext cx="1036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Dynamic calibration adapts the system to different users and eye shapes.</a:t>
            </a:r>
          </a:p>
        </p:txBody>
      </p:sp>
    </p:spTree>
    <p:extLst>
      <p:ext uri="{BB962C8B-B14F-4D97-AF65-F5344CB8AC3E}">
        <p14:creationId xmlns:p14="http://schemas.microsoft.com/office/powerpoint/2010/main" val="10009611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2-section">
            <a:extLst xmlns:a="http://schemas.openxmlformats.org/drawingml/2006/main">
              <a:ext uri="{FF2B5EF4-FFF2-40B4-BE49-F238E27FC236}">
                <a16:creationId xmlns:a16="http://schemas.microsoft.com/office/drawing/2014/main" id="{2A24C062-068D-40C5-94FC-DE7D8AEC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Slide 12: Sampling Rate and Sliding Window</a:t>
            </a:r>
          </a:p>
        </p:txBody>
      </p:sp>
      <p:sp>
        <p:nvSpPr>
          <p:cNvPr id="2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0AD336E4-6652-4658-B0DC-21DC3B56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82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Matching the Training-Time Temporal Setup</a:t>
            </a:r>
          </a:p>
        </p:txBody>
      </p:sp>
      <p:sp>
        <p:nvSpPr>
          <p:cNvPr id="3" name="slide-12-rule">
            <a:extLst xmlns:a="http://schemas.openxmlformats.org/drawingml/2006/main">
              <a:ext uri="{FF2B5EF4-FFF2-40B4-BE49-F238E27FC236}">
                <a16:creationId xmlns:a16="http://schemas.microsoft.com/office/drawing/2014/main" id="{7A766F77-0210-4B1E-84DA-792CA99D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bullet-86-200">
            <a:extLst xmlns:a="http://schemas.openxmlformats.org/drawingml/2006/main">
              <a:ext uri="{FF2B5EF4-FFF2-40B4-BE49-F238E27FC236}">
                <a16:creationId xmlns:a16="http://schemas.microsoft.com/office/drawing/2014/main" id="{46DDF465-6D25-4C41-B0E3-692DF64B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5" name="bullet-text-86-200">
            <a:extLst xmlns:a="http://schemas.openxmlformats.org/drawingml/2006/main">
              <a:ext uri="{FF2B5EF4-FFF2-40B4-BE49-F238E27FC236}">
                <a16:creationId xmlns:a16="http://schemas.microsoft.com/office/drawing/2014/main" id="{EE8AF64E-A269-4482-B8D8-1D49B93C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model was trained on EAR sequences sampled around 15 FPS.</a:t>
            </a:r>
          </a:p>
        </p:txBody>
      </p:sp>
      <p:sp>
        <p:nvSpPr>
          <p:cNvPr id="6" name="bullet-86-236">
            <a:extLst xmlns:a="http://schemas.openxmlformats.org/drawingml/2006/main">
              <a:ext uri="{FF2B5EF4-FFF2-40B4-BE49-F238E27FC236}">
                <a16:creationId xmlns:a16="http://schemas.microsoft.com/office/drawing/2014/main" id="{81CC7D98-1D17-4F47-9CC7-469AE2AB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7" name="bullet-text-86-236">
            <a:extLst xmlns:a="http://schemas.openxmlformats.org/drawingml/2006/main">
              <a:ext uri="{FF2B5EF4-FFF2-40B4-BE49-F238E27FC236}">
                <a16:creationId xmlns:a16="http://schemas.microsoft.com/office/drawing/2014/main" id="{8ED9F476-0918-49C3-A6ED-602F3A39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browser does not run inference on every animation frame.</a:t>
            </a:r>
          </a:p>
        </p:txBody>
      </p:sp>
      <p:sp>
        <p:nvSpPr>
          <p:cNvPr id="8" name="bullet-86-272">
            <a:extLst xmlns:a="http://schemas.openxmlformats.org/drawingml/2006/main">
              <a:ext uri="{FF2B5EF4-FFF2-40B4-BE49-F238E27FC236}">
                <a16:creationId xmlns:a16="http://schemas.microsoft.com/office/drawing/2014/main" id="{5439FD81-DABB-49C9-995C-CFC74389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9" name="bullet-text-86-272">
            <a:extLst xmlns:a="http://schemas.openxmlformats.org/drawingml/2006/main">
              <a:ext uri="{FF2B5EF4-FFF2-40B4-BE49-F238E27FC236}">
                <a16:creationId xmlns:a16="http://schemas.microsoft.com/office/drawing/2014/main" id="{20390A4F-C7DC-4A9C-B5D4-E12AA1B1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Sampling interval:</a:t>
            </a:r>
          </a:p>
        </p:txBody>
      </p:sp>
      <p:sp>
        <p:nvSpPr>
          <p:cNvPr id="10" name="code-panel-86-318">
            <a:extLst xmlns:a="http://schemas.openxmlformats.org/drawingml/2006/main">
              <a:ext uri="{FF2B5EF4-FFF2-40B4-BE49-F238E27FC236}">
                <a16:creationId xmlns:a16="http://schemas.microsoft.com/office/drawing/2014/main" id="{6C256CA3-152B-482E-BDFE-F935E9A0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036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1" name="code-text-86-318">
            <a:extLst xmlns:a="http://schemas.openxmlformats.org/drawingml/2006/main">
              <a:ext uri="{FF2B5EF4-FFF2-40B4-BE49-F238E27FC236}">
                <a16:creationId xmlns:a16="http://schemas.microsoft.com/office/drawing/2014/main" id="{C68EA4EF-54CC-4CFE-8B14-64E7F352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1005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SAMPLE_INTERVAL_MS = 1000 / 15;</a:t>
            </a:r>
          </a:p>
        </p:txBody>
      </p:sp>
      <p:sp>
        <p:nvSpPr>
          <p:cNvPr id="12" name="bullet-86-388">
            <a:extLst xmlns:a="http://schemas.openxmlformats.org/drawingml/2006/main">
              <a:ext uri="{FF2B5EF4-FFF2-40B4-BE49-F238E27FC236}">
                <a16:creationId xmlns:a16="http://schemas.microsoft.com/office/drawing/2014/main" id="{4ABD1950-C50E-4C65-B71E-DF09BD47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3" name="bullet-text-86-388">
            <a:extLst xmlns:a="http://schemas.openxmlformats.org/drawingml/2006/main">
              <a:ext uri="{FF2B5EF4-FFF2-40B4-BE49-F238E27FC236}">
                <a16:creationId xmlns:a16="http://schemas.microsoft.com/office/drawing/2014/main" id="{476FF0F8-0563-4C32-A794-52E1AFD5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Sliding window size:</a:t>
            </a:r>
          </a:p>
        </p:txBody>
      </p:sp>
      <p:sp>
        <p:nvSpPr>
          <p:cNvPr id="14" name="code-panel-86-434">
            <a:extLst xmlns:a="http://schemas.openxmlformats.org/drawingml/2006/main">
              <a:ext uri="{FF2B5EF4-FFF2-40B4-BE49-F238E27FC236}">
                <a16:creationId xmlns:a16="http://schemas.microsoft.com/office/drawing/2014/main" id="{2B85A21F-E954-4D03-8A91-1E389203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1036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5" name="code-text-86-434">
            <a:extLst xmlns:a="http://schemas.openxmlformats.org/drawingml/2006/main">
              <a:ext uri="{FF2B5EF4-FFF2-40B4-BE49-F238E27FC236}">
                <a16:creationId xmlns:a16="http://schemas.microsoft.com/office/drawing/2014/main" id="{7AD3466E-D09A-439E-9BC3-72C1CE6C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29100"/>
            <a:ext cx="1005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WINDOW_SIZE = 7;</a:t>
            </a:r>
          </a:p>
        </p:txBody>
      </p:sp>
      <p:sp>
        <p:nvSpPr>
          <p:cNvPr id="16" name="bullet-86-504">
            <a:extLst xmlns:a="http://schemas.openxmlformats.org/drawingml/2006/main">
              <a:ext uri="{FF2B5EF4-FFF2-40B4-BE49-F238E27FC236}">
                <a16:creationId xmlns:a16="http://schemas.microsoft.com/office/drawing/2014/main" id="{8E5F88CC-19CA-407C-AE8D-F69A2916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7" name="bullet-text-86-504">
            <a:extLst xmlns:a="http://schemas.openxmlformats.org/drawingml/2006/main">
              <a:ext uri="{FF2B5EF4-FFF2-40B4-BE49-F238E27FC236}">
                <a16:creationId xmlns:a16="http://schemas.microsoft.com/office/drawing/2014/main" id="{22B1C26F-B570-4117-B1AF-1F4B9B69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006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Inference only starts after the 7-frame window is full.</a:t>
            </a:r>
          </a:p>
        </p:txBody>
      </p:sp>
    </p:spTree>
    <p:extLst>
      <p:ext uri="{BB962C8B-B14F-4D97-AF65-F5344CB8AC3E}">
        <p14:creationId xmlns:p14="http://schemas.microsoft.com/office/powerpoint/2010/main" val="15219513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3-section">
            <a:extLst xmlns:a="http://schemas.openxmlformats.org/drawingml/2006/main">
              <a:ext uri="{FF2B5EF4-FFF2-40B4-BE49-F238E27FC236}">
                <a16:creationId xmlns:a16="http://schemas.microsoft.com/office/drawing/2014/main" id="{B062BB17-A4E1-4187-B996-DE95A407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Slide 13: Hybrid Heuristic Filter</a:t>
            </a:r>
          </a:p>
        </p:txBody>
      </p:sp>
      <p:sp>
        <p:nvSpPr>
          <p:cNvPr id="2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F75FB699-1D42-40A3-9D2B-F81E7C24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82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Reducing Unnecessary Model Calls</a:t>
            </a:r>
          </a:p>
        </p:txBody>
      </p:sp>
      <p:sp>
        <p:nvSpPr>
          <p:cNvPr id="3" name="slide-13-rule">
            <a:extLst xmlns:a="http://schemas.openxmlformats.org/drawingml/2006/main">
              <a:ext uri="{FF2B5EF4-FFF2-40B4-BE49-F238E27FC236}">
                <a16:creationId xmlns:a16="http://schemas.microsoft.com/office/drawing/2014/main" id="{E389CEA1-AB1E-476F-B811-F6CBACFB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bullet-86-200">
            <a:extLst xmlns:a="http://schemas.openxmlformats.org/drawingml/2006/main">
              <a:ext uri="{FF2B5EF4-FFF2-40B4-BE49-F238E27FC236}">
                <a16:creationId xmlns:a16="http://schemas.microsoft.com/office/drawing/2014/main" id="{C4A9F0D6-60C3-4460-BAA6-38E70068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5" name="bullet-text-86-200">
            <a:extLst xmlns:a="http://schemas.openxmlformats.org/drawingml/2006/main">
              <a:ext uri="{FF2B5EF4-FFF2-40B4-BE49-F238E27FC236}">
                <a16:creationId xmlns:a16="http://schemas.microsoft.com/office/drawing/2014/main" id="{21FA207F-0C19-4027-819B-85EE196A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If all normalized EAR values in the window are high, the eye is considered open.</a:t>
            </a:r>
          </a:p>
        </p:txBody>
      </p:sp>
      <p:sp>
        <p:nvSpPr>
          <p:cNvPr id="6" name="code-panel-86-246">
            <a:extLst xmlns:a="http://schemas.openxmlformats.org/drawingml/2006/main">
              <a:ext uri="{FF2B5EF4-FFF2-40B4-BE49-F238E27FC236}">
                <a16:creationId xmlns:a16="http://schemas.microsoft.com/office/drawing/2014/main" id="{90955989-D626-475A-9BA5-1F48B98B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0363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7" name="code-text-86-246">
            <a:extLst xmlns:a="http://schemas.openxmlformats.org/drawingml/2006/main">
              <a:ext uri="{FF2B5EF4-FFF2-40B4-BE49-F238E27FC236}">
                <a16:creationId xmlns:a16="http://schemas.microsoft.com/office/drawing/2014/main" id="{254B2678-F5B9-465F-ADAD-886AD5FA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10058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if (Math.min(slidingWindow) &gt;= 0.5) {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prediction = 0;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bullet-86-388">
            <a:extLst xmlns:a="http://schemas.openxmlformats.org/drawingml/2006/main">
              <a:ext uri="{FF2B5EF4-FFF2-40B4-BE49-F238E27FC236}">
                <a16:creationId xmlns:a16="http://schemas.microsoft.com/office/drawing/2014/main" id="{2BA8D701-4697-49CC-A1F1-8BDD5479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9" name="bullet-text-86-388">
            <a:extLst xmlns:a="http://schemas.openxmlformats.org/drawingml/2006/main">
              <a:ext uri="{FF2B5EF4-FFF2-40B4-BE49-F238E27FC236}">
                <a16:creationId xmlns:a16="http://schemas.microsoft.com/office/drawing/2014/main" id="{8630A440-7C6D-4F58-BEC4-B92C56F8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SVM inference only runs when the window looks suspicious.</a:t>
            </a:r>
          </a:p>
        </p:txBody>
      </p:sp>
      <p:sp>
        <p:nvSpPr>
          <p:cNvPr id="10" name="bullet-86-424">
            <a:extLst xmlns:a="http://schemas.openxmlformats.org/drawingml/2006/main">
              <a:ext uri="{FF2B5EF4-FFF2-40B4-BE49-F238E27FC236}">
                <a16:creationId xmlns:a16="http://schemas.microsoft.com/office/drawing/2014/main" id="{51DDAF4B-3C88-4165-8253-0842AA4C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1" name="bullet-text-86-424">
            <a:extLst xmlns:a="http://schemas.openxmlformats.org/drawingml/2006/main">
              <a:ext uri="{FF2B5EF4-FFF2-40B4-BE49-F238E27FC236}">
                <a16:creationId xmlns:a16="http://schemas.microsoft.com/office/drawing/2014/main" id="{CBE7F8EA-3A4A-4214-845C-500D03B0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386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dashboard shows:</a:t>
            </a:r>
          </a:p>
        </p:txBody>
      </p:sp>
      <p:sp>
        <p:nvSpPr>
          <p:cNvPr id="12" name="bullet-86-460">
            <a:extLst xmlns:a="http://schemas.openxmlformats.org/drawingml/2006/main">
              <a:ext uri="{FF2B5EF4-FFF2-40B4-BE49-F238E27FC236}">
                <a16:creationId xmlns:a16="http://schemas.microsoft.com/office/drawing/2014/main" id="{BC469FBC-CDC1-4971-9E90-D9476AA4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–</a:t>
            </a:r>
          </a:p>
        </p:txBody>
      </p:sp>
      <p:sp>
        <p:nvSpPr>
          <p:cNvPr id="13" name="bullet-text-86-460">
            <a:extLst xmlns:a="http://schemas.openxmlformats.org/drawingml/2006/main">
              <a:ext uri="{FF2B5EF4-FFF2-40B4-BE49-F238E27FC236}">
                <a16:creationId xmlns:a16="http://schemas.microsoft.com/office/drawing/2014/main" id="{46148437-9FF5-4465-B60B-C332CB7F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815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CPU Saved</a:t>
            </a:r>
          </a:p>
        </p:txBody>
      </p:sp>
      <p:sp>
        <p:nvSpPr>
          <p:cNvPr id="14" name="bullet-86-496">
            <a:extLst xmlns:a="http://schemas.openxmlformats.org/drawingml/2006/main">
              <a:ext uri="{FF2B5EF4-FFF2-40B4-BE49-F238E27FC236}">
                <a16:creationId xmlns:a16="http://schemas.microsoft.com/office/drawing/2014/main" id="{D6FFC594-93DE-4CAF-B019-8B8FBA1B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244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–</a:t>
            </a:r>
          </a:p>
        </p:txBody>
      </p:sp>
      <p:sp>
        <p:nvSpPr>
          <p:cNvPr id="15" name="bullet-text-86-496">
            <a:extLst xmlns:a="http://schemas.openxmlformats.org/drawingml/2006/main">
              <a:ext uri="{FF2B5EF4-FFF2-40B4-BE49-F238E27FC236}">
                <a16:creationId xmlns:a16="http://schemas.microsoft.com/office/drawing/2014/main" id="{B50F751C-03DB-4091-B0C6-3D76EDC5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244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CPU Mode: Filter or SVM</a:t>
            </a:r>
          </a:p>
        </p:txBody>
      </p:sp>
      <p:sp>
        <p:nvSpPr>
          <p:cNvPr id="16" name="label-Key Message-544">
            <a:extLst xmlns:a="http://schemas.openxmlformats.org/drawingml/2006/main">
              <a:ext uri="{FF2B5EF4-FFF2-40B4-BE49-F238E27FC236}">
                <a16:creationId xmlns:a16="http://schemas.microsoft.com/office/drawing/2014/main" id="{CEEC045B-C241-426A-8B92-AC4EAC5E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16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Key Message:</a:t>
            </a:r>
          </a:p>
        </p:txBody>
      </p:sp>
      <p:sp>
        <p:nvSpPr>
          <p:cNvPr id="17" name="text-578">
            <a:extLst xmlns:a="http://schemas.openxmlformats.org/drawingml/2006/main">
              <a:ext uri="{FF2B5EF4-FFF2-40B4-BE49-F238E27FC236}">
                <a16:creationId xmlns:a16="http://schemas.microsoft.com/office/drawing/2014/main" id="{E727E28D-6970-43D5-8C00-01C2E7FA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1036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hybrid filter reduces CPU usage while preserving real-time responsiveness.</a:t>
            </a:r>
          </a:p>
        </p:txBody>
      </p:sp>
    </p:spTree>
    <p:extLst>
      <p:ext uri="{BB962C8B-B14F-4D97-AF65-F5344CB8AC3E}">
        <p14:creationId xmlns:p14="http://schemas.microsoft.com/office/powerpoint/2010/main" val="17150096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4-section">
            <a:extLst xmlns:a="http://schemas.openxmlformats.org/drawingml/2006/main">
              <a:ext uri="{FF2B5EF4-FFF2-40B4-BE49-F238E27FC236}">
                <a16:creationId xmlns:a16="http://schemas.microsoft.com/office/drawing/2014/main" id="{55358CB8-A479-467C-B5CC-4B476816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Slide 14: BlinkGuard Web App Features</a:t>
            </a:r>
          </a:p>
        </p:txBody>
      </p:sp>
      <p:sp>
        <p:nvSpPr>
          <p:cNvPr id="2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74D66532-24F1-4FE5-BE63-1B809910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82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Current BlinkGuard Features</a:t>
            </a:r>
          </a:p>
        </p:txBody>
      </p:sp>
      <p:sp>
        <p:nvSpPr>
          <p:cNvPr id="3" name="slide-14-rule">
            <a:extLst xmlns:a="http://schemas.openxmlformats.org/drawingml/2006/main">
              <a:ext uri="{FF2B5EF4-FFF2-40B4-BE49-F238E27FC236}">
                <a16:creationId xmlns:a16="http://schemas.microsoft.com/office/drawing/2014/main" id="{A353926A-47C3-40CD-86EB-284EF273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bullet-86-200">
            <a:extLst xmlns:a="http://schemas.openxmlformats.org/drawingml/2006/main">
              <a:ext uri="{FF2B5EF4-FFF2-40B4-BE49-F238E27FC236}">
                <a16:creationId xmlns:a16="http://schemas.microsoft.com/office/drawing/2014/main" id="{CDB62112-8E62-4CF0-99C9-19244CAD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5" name="bullet-text-86-200">
            <a:extLst xmlns:a="http://schemas.openxmlformats.org/drawingml/2006/main">
              <a:ext uri="{FF2B5EF4-FFF2-40B4-BE49-F238E27FC236}">
                <a16:creationId xmlns:a16="http://schemas.microsoft.com/office/drawing/2014/main" id="{9AC0B929-D30F-4484-AFA4-41A262BE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Start, stop, and reset camera session</a:t>
            </a:r>
          </a:p>
        </p:txBody>
      </p:sp>
      <p:sp>
        <p:nvSpPr>
          <p:cNvPr id="6" name="bullet-86-236">
            <a:extLst xmlns:a="http://schemas.openxmlformats.org/drawingml/2006/main">
              <a:ext uri="{FF2B5EF4-FFF2-40B4-BE49-F238E27FC236}">
                <a16:creationId xmlns:a16="http://schemas.microsoft.com/office/drawing/2014/main" id="{1EAD5A8E-0D88-4D06-988D-F5B7287F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7" name="bullet-text-86-236">
            <a:extLst xmlns:a="http://schemas.openxmlformats.org/drawingml/2006/main">
              <a:ext uri="{FF2B5EF4-FFF2-40B4-BE49-F238E27FC236}">
                <a16:creationId xmlns:a16="http://schemas.microsoft.com/office/drawing/2014/main" id="{AD6C6EAB-D5EC-4186-A514-B8BC3BAB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Real-time eye landmark overlay</a:t>
            </a:r>
          </a:p>
        </p:txBody>
      </p:sp>
      <p:sp>
        <p:nvSpPr>
          <p:cNvPr id="8" name="bullet-86-272">
            <a:extLst xmlns:a="http://schemas.openxmlformats.org/drawingml/2006/main">
              <a:ext uri="{FF2B5EF4-FFF2-40B4-BE49-F238E27FC236}">
                <a16:creationId xmlns:a16="http://schemas.microsoft.com/office/drawing/2014/main" id="{576BFF97-E3CF-4C93-8DC9-FC3FA5E5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9" name="bullet-text-86-272">
            <a:extLst xmlns:a="http://schemas.openxmlformats.org/drawingml/2006/main">
              <a:ext uri="{FF2B5EF4-FFF2-40B4-BE49-F238E27FC236}">
                <a16:creationId xmlns:a16="http://schemas.microsoft.com/office/drawing/2014/main" id="{1069F06A-E5C6-4453-AB00-08DC4422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Blink count during the session</a:t>
            </a:r>
          </a:p>
        </p:txBody>
      </p:sp>
      <p:sp>
        <p:nvSpPr>
          <p:cNvPr id="10" name="bullet-86-308">
            <a:extLst xmlns:a="http://schemas.openxmlformats.org/drawingml/2006/main">
              <a:ext uri="{FF2B5EF4-FFF2-40B4-BE49-F238E27FC236}">
                <a16:creationId xmlns:a16="http://schemas.microsoft.com/office/drawing/2014/main" id="{3104102F-2429-4CA7-A300-A98719F0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1" name="bullet-text-86-308">
            <a:extLst xmlns:a="http://schemas.openxmlformats.org/drawingml/2006/main">
              <a:ext uri="{FF2B5EF4-FFF2-40B4-BE49-F238E27FC236}">
                <a16:creationId xmlns:a16="http://schemas.microsoft.com/office/drawing/2014/main" id="{CE632C99-00D8-4CA4-8E54-8F69A4AB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Blinks in the last 60 seconds</a:t>
            </a:r>
          </a:p>
        </p:txBody>
      </p:sp>
      <p:sp>
        <p:nvSpPr>
          <p:cNvPr id="12" name="bullet-86-344">
            <a:extLst xmlns:a="http://schemas.openxmlformats.org/drawingml/2006/main">
              <a:ext uri="{FF2B5EF4-FFF2-40B4-BE49-F238E27FC236}">
                <a16:creationId xmlns:a16="http://schemas.microsoft.com/office/drawing/2014/main" id="{011E48E5-D1D0-450C-A9E5-C3B31256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3" name="bullet-text-86-344">
            <a:extLst xmlns:a="http://schemas.openxmlformats.org/drawingml/2006/main">
              <a:ext uri="{FF2B5EF4-FFF2-40B4-BE49-F238E27FC236}">
                <a16:creationId xmlns:a16="http://schemas.microsoft.com/office/drawing/2014/main" id="{55DA24B3-8608-45F0-819C-D33BD4A5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3-minute blink rate trend</a:t>
            </a:r>
          </a:p>
        </p:txBody>
      </p:sp>
      <p:sp>
        <p:nvSpPr>
          <p:cNvPr id="14" name="bullet-86-380">
            <a:extLst xmlns:a="http://schemas.openxmlformats.org/drawingml/2006/main">
              <a:ext uri="{FF2B5EF4-FFF2-40B4-BE49-F238E27FC236}">
                <a16:creationId xmlns:a16="http://schemas.microsoft.com/office/drawing/2014/main" id="{A1BF340A-043C-4E48-8908-DCCE20AA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5" name="bullet-text-86-380">
            <a:extLst xmlns:a="http://schemas.openxmlformats.org/drawingml/2006/main">
              <a:ext uri="{FF2B5EF4-FFF2-40B4-BE49-F238E27FC236}">
                <a16:creationId xmlns:a16="http://schemas.microsoft.com/office/drawing/2014/main" id="{9851E1DF-5E5E-4E7F-9BA9-172A9F9F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195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No-blink streak timer</a:t>
            </a:r>
          </a:p>
        </p:txBody>
      </p:sp>
      <p:sp>
        <p:nvSpPr>
          <p:cNvPr id="16" name="bullet-86-416">
            <a:extLst xmlns:a="http://schemas.openxmlformats.org/drawingml/2006/main">
              <a:ext uri="{FF2B5EF4-FFF2-40B4-BE49-F238E27FC236}">
                <a16:creationId xmlns:a16="http://schemas.microsoft.com/office/drawing/2014/main" id="{B8BF39AC-F897-4329-BAE9-09E6A561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7" name="bullet-text-86-416">
            <a:extLst xmlns:a="http://schemas.openxmlformats.org/drawingml/2006/main">
              <a:ext uri="{FF2B5EF4-FFF2-40B4-BE49-F238E27FC236}">
                <a16:creationId xmlns:a16="http://schemas.microsoft.com/office/drawing/2014/main" id="{94B8485B-81AD-4833-BA03-F0F07298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624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Drowsy event counter</a:t>
            </a:r>
          </a:p>
        </p:txBody>
      </p:sp>
      <p:sp>
        <p:nvSpPr>
          <p:cNvPr id="18" name="bullet-86-452">
            <a:extLst xmlns:a="http://schemas.openxmlformats.org/drawingml/2006/main">
              <a:ext uri="{FF2B5EF4-FFF2-40B4-BE49-F238E27FC236}">
                <a16:creationId xmlns:a16="http://schemas.microsoft.com/office/drawing/2014/main" id="{2AF14C6D-416B-4FD9-BBE4-3AF549ED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9" name="bullet-text-86-452">
            <a:extLst xmlns:a="http://schemas.openxmlformats.org/drawingml/2006/main">
              <a:ext uri="{FF2B5EF4-FFF2-40B4-BE49-F238E27FC236}">
                <a16:creationId xmlns:a16="http://schemas.microsoft.com/office/drawing/2014/main" id="{986533A0-D2BB-4DD8-93CF-132EC5F9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053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SVM prediction display</a:t>
            </a:r>
          </a:p>
        </p:txBody>
      </p:sp>
      <p:sp>
        <p:nvSpPr>
          <p:cNvPr id="20" name="bullet-86-488">
            <a:extLst xmlns:a="http://schemas.openxmlformats.org/drawingml/2006/main">
              <a:ext uri="{FF2B5EF4-FFF2-40B4-BE49-F238E27FC236}">
                <a16:creationId xmlns:a16="http://schemas.microsoft.com/office/drawing/2014/main" id="{3535AA77-F005-4A40-A7B8-78139F86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21" name="bullet-text-86-488">
            <a:extLst xmlns:a="http://schemas.openxmlformats.org/drawingml/2006/main">
              <a:ext uri="{FF2B5EF4-FFF2-40B4-BE49-F238E27FC236}">
                <a16:creationId xmlns:a16="http://schemas.microsoft.com/office/drawing/2014/main" id="{25A8A4D6-9875-4C24-B71B-E4649664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482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CPU saving display</a:t>
            </a:r>
          </a:p>
        </p:txBody>
      </p:sp>
      <p:sp>
        <p:nvSpPr>
          <p:cNvPr id="22" name="bullet-86-524">
            <a:extLst xmlns:a="http://schemas.openxmlformats.org/drawingml/2006/main">
              <a:ext uri="{FF2B5EF4-FFF2-40B4-BE49-F238E27FC236}">
                <a16:creationId xmlns:a16="http://schemas.microsoft.com/office/drawing/2014/main" id="{34E5974F-3004-45D4-AAB3-B4998988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23" name="bullet-text-86-524">
            <a:extLst xmlns:a="http://schemas.openxmlformats.org/drawingml/2006/main">
              <a:ext uri="{FF2B5EF4-FFF2-40B4-BE49-F238E27FC236}">
                <a16:creationId xmlns:a16="http://schemas.microsoft.com/office/drawing/2014/main" id="{E66A3024-D668-47C2-96FA-4CA26E6C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Notification permission status</a:t>
            </a:r>
          </a:p>
        </p:txBody>
      </p:sp>
    </p:spTree>
    <p:extLst>
      <p:ext uri="{BB962C8B-B14F-4D97-AF65-F5344CB8AC3E}">
        <p14:creationId xmlns:p14="http://schemas.microsoft.com/office/powerpoint/2010/main" val="12057877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5-section">
            <a:extLst xmlns:a="http://schemas.openxmlformats.org/drawingml/2006/main">
              <a:ext uri="{FF2B5EF4-FFF2-40B4-BE49-F238E27FC236}">
                <a16:creationId xmlns:a16="http://schemas.microsoft.com/office/drawing/2014/main" id="{4F61734F-19C6-45E7-BD9D-31A3FF3B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Slide 15: Blink Rate Monitoring</a:t>
            </a:r>
          </a:p>
        </p:txBody>
      </p:sp>
      <p:sp>
        <p:nvSpPr>
          <p:cNvPr id="2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B8DE097A-B674-48FA-9F36-041E5CA2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82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Detecting Low Blink Rate</a:t>
            </a:r>
          </a:p>
        </p:txBody>
      </p:sp>
      <p:sp>
        <p:nvSpPr>
          <p:cNvPr id="3" name="slide-15-rule">
            <a:extLst xmlns:a="http://schemas.openxmlformats.org/drawingml/2006/main">
              <a:ext uri="{FF2B5EF4-FFF2-40B4-BE49-F238E27FC236}">
                <a16:creationId xmlns:a16="http://schemas.microsoft.com/office/drawing/2014/main" id="{02870A83-B62C-4877-AE2B-635742D9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bullet-86-200">
            <a:extLst xmlns:a="http://schemas.openxmlformats.org/drawingml/2006/main">
              <a:ext uri="{FF2B5EF4-FFF2-40B4-BE49-F238E27FC236}">
                <a16:creationId xmlns:a16="http://schemas.microsoft.com/office/drawing/2014/main" id="{72E738DE-2149-40EB-BBA2-4A90262D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5" name="bullet-text-86-200">
            <a:extLst xmlns:a="http://schemas.openxmlformats.org/drawingml/2006/main">
              <a:ext uri="{FF2B5EF4-FFF2-40B4-BE49-F238E27FC236}">
                <a16:creationId xmlns:a16="http://schemas.microsoft.com/office/drawing/2014/main" id="{8A3DE7BA-72BC-40D4-A164-9EA7707D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app stores timestamps for detected blink events.</a:t>
            </a:r>
          </a:p>
        </p:txBody>
      </p:sp>
      <p:sp>
        <p:nvSpPr>
          <p:cNvPr id="6" name="bullet-86-236">
            <a:extLst xmlns:a="http://schemas.openxmlformats.org/drawingml/2006/main">
              <a:ext uri="{FF2B5EF4-FFF2-40B4-BE49-F238E27FC236}">
                <a16:creationId xmlns:a16="http://schemas.microsoft.com/office/drawing/2014/main" id="{75C3533D-89D7-4985-A67E-D01E8158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7" name="bullet-text-86-236">
            <a:extLst xmlns:a="http://schemas.openxmlformats.org/drawingml/2006/main">
              <a:ext uri="{FF2B5EF4-FFF2-40B4-BE49-F238E27FC236}">
                <a16:creationId xmlns:a16="http://schemas.microsoft.com/office/drawing/2014/main" id="{305A5F08-EE71-492B-9F54-FCA7F581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Blink rate is calculated from the last 60 seconds.</a:t>
            </a:r>
          </a:p>
        </p:txBody>
      </p:sp>
      <p:sp>
        <p:nvSpPr>
          <p:cNvPr id="8" name="bullet-86-272">
            <a:extLst xmlns:a="http://schemas.openxmlformats.org/drawingml/2006/main">
              <a:ext uri="{FF2B5EF4-FFF2-40B4-BE49-F238E27FC236}">
                <a16:creationId xmlns:a16="http://schemas.microsoft.com/office/drawing/2014/main" id="{6218DD4A-0DCD-4CCC-90DE-0538B8ED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9" name="bullet-text-86-272">
            <a:extLst xmlns:a="http://schemas.openxmlformats.org/drawingml/2006/main">
              <a:ext uri="{FF2B5EF4-FFF2-40B4-BE49-F238E27FC236}">
                <a16:creationId xmlns:a16="http://schemas.microsoft.com/office/drawing/2014/main" id="{7EBAB16F-AD80-44B3-91AC-7C098D8C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Default target:</a:t>
            </a:r>
          </a:p>
        </p:txBody>
      </p:sp>
      <p:sp>
        <p:nvSpPr>
          <p:cNvPr id="10" name="code-panel-86-318">
            <a:extLst xmlns:a="http://schemas.openxmlformats.org/drawingml/2006/main">
              <a:ext uri="{FF2B5EF4-FFF2-40B4-BE49-F238E27FC236}">
                <a16:creationId xmlns:a16="http://schemas.microsoft.com/office/drawing/2014/main" id="{AF108F97-45D4-4C2A-BDCA-749EB205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036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1" name="code-text-86-318">
            <a:extLst xmlns:a="http://schemas.openxmlformats.org/drawingml/2006/main">
              <a:ext uri="{FF2B5EF4-FFF2-40B4-BE49-F238E27FC236}">
                <a16:creationId xmlns:a16="http://schemas.microsoft.com/office/drawing/2014/main" id="{2787758D-3C65-4A93-8C5B-3F3F7BCC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1005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12 blinks per minute</a:t>
            </a:r>
          </a:p>
        </p:txBody>
      </p:sp>
      <p:sp>
        <p:nvSpPr>
          <p:cNvPr id="12" name="bullet-86-388">
            <a:extLst xmlns:a="http://schemas.openxmlformats.org/drawingml/2006/main">
              <a:ext uri="{FF2B5EF4-FFF2-40B4-BE49-F238E27FC236}">
                <a16:creationId xmlns:a16="http://schemas.microsoft.com/office/drawing/2014/main" id="{F199693F-6434-48DD-8DE3-F350393C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3" name="bullet-text-86-388">
            <a:extLst xmlns:a="http://schemas.openxmlformats.org/drawingml/2006/main">
              <a:ext uri="{FF2B5EF4-FFF2-40B4-BE49-F238E27FC236}">
                <a16:creationId xmlns:a16="http://schemas.microsoft.com/office/drawing/2014/main" id="{AA2C415F-B67A-4165-A5E7-BD906D30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Warning levels:</a:t>
            </a:r>
          </a:p>
        </p:txBody>
      </p:sp>
      <p:sp>
        <p:nvSpPr>
          <p:cNvPr id="14" name="bullet-86-424">
            <a:extLst xmlns:a="http://schemas.openxmlformats.org/drawingml/2006/main">
              <a:ext uri="{FF2B5EF4-FFF2-40B4-BE49-F238E27FC236}">
                <a16:creationId xmlns:a16="http://schemas.microsoft.com/office/drawing/2014/main" id="{B5BA8DF6-9D01-43AD-B6FC-C4D482D7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386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–</a:t>
            </a:r>
          </a:p>
        </p:txBody>
      </p:sp>
      <p:sp>
        <p:nvSpPr>
          <p:cNvPr id="15" name="bullet-text-86-424">
            <a:extLst xmlns:a="http://schemas.openxmlformats.org/drawingml/2006/main">
              <a:ext uri="{FF2B5EF4-FFF2-40B4-BE49-F238E27FC236}">
                <a16:creationId xmlns:a16="http://schemas.microsoft.com/office/drawing/2014/main" id="{C9010499-E8D7-4DE3-A10F-90EF22F8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386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&lt; 12/min: Low blink rate</a:t>
            </a:r>
          </a:p>
        </p:txBody>
      </p:sp>
      <p:sp>
        <p:nvSpPr>
          <p:cNvPr id="16" name="bullet-86-460">
            <a:extLst xmlns:a="http://schemas.openxmlformats.org/drawingml/2006/main">
              <a:ext uri="{FF2B5EF4-FFF2-40B4-BE49-F238E27FC236}">
                <a16:creationId xmlns:a16="http://schemas.microsoft.com/office/drawing/2014/main" id="{9B3C45E2-FE60-4DCF-81DB-C72EBFDD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–</a:t>
            </a:r>
          </a:p>
        </p:txBody>
      </p:sp>
      <p:sp>
        <p:nvSpPr>
          <p:cNvPr id="17" name="bullet-text-86-460">
            <a:extLst xmlns:a="http://schemas.openxmlformats.org/drawingml/2006/main">
              <a:ext uri="{FF2B5EF4-FFF2-40B4-BE49-F238E27FC236}">
                <a16:creationId xmlns:a16="http://schemas.microsoft.com/office/drawing/2014/main" id="{1FEDFD94-1BFE-4650-A072-D60BEA09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815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&lt; 7/min: Very low blink rate</a:t>
            </a:r>
          </a:p>
        </p:txBody>
      </p:sp>
      <p:sp>
        <p:nvSpPr>
          <p:cNvPr id="18" name="label-Use Case-508">
            <a:extLst xmlns:a="http://schemas.openxmlformats.org/drawingml/2006/main">
              <a:ext uri="{FF2B5EF4-FFF2-40B4-BE49-F238E27FC236}">
                <a16:creationId xmlns:a16="http://schemas.microsoft.com/office/drawing/2014/main" id="{33D5B44D-4961-4B8B-8702-D14369EF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Use Case:</a:t>
            </a:r>
          </a:p>
        </p:txBody>
      </p:sp>
      <p:sp>
        <p:nvSpPr>
          <p:cNvPr id="19" name="text-542">
            <a:extLst xmlns:a="http://schemas.openxmlformats.org/drawingml/2006/main">
              <a:ext uri="{FF2B5EF4-FFF2-40B4-BE49-F238E27FC236}">
                <a16:creationId xmlns:a16="http://schemas.microsoft.com/office/drawing/2014/main" id="{5E095EC6-B366-4558-8119-6A5D7374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1036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Warn users when they focus too long and blink less than expected.</a:t>
            </a:r>
          </a:p>
        </p:txBody>
      </p:sp>
    </p:spTree>
    <p:extLst>
      <p:ext uri="{BB962C8B-B14F-4D97-AF65-F5344CB8AC3E}">
        <p14:creationId xmlns:p14="http://schemas.microsoft.com/office/powerpoint/2010/main" val="19175923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6-section">
            <a:extLst xmlns:a="http://schemas.openxmlformats.org/drawingml/2006/main">
              <a:ext uri="{FF2B5EF4-FFF2-40B4-BE49-F238E27FC236}">
                <a16:creationId xmlns:a16="http://schemas.microsoft.com/office/drawing/2014/main" id="{EDB24669-EFD4-4AD7-B74B-0C5C74A1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Slide 16: No-Blink Streak Warning</a:t>
            </a:r>
          </a:p>
        </p:txBody>
      </p:sp>
      <p:sp>
        <p:nvSpPr>
          <p:cNvPr id="2" name="slide-16-title">
            <a:extLst xmlns:a="http://schemas.openxmlformats.org/drawingml/2006/main">
              <a:ext uri="{FF2B5EF4-FFF2-40B4-BE49-F238E27FC236}">
                <a16:creationId xmlns:a16="http://schemas.microsoft.com/office/drawing/2014/main" id="{090A5D81-672F-4370-BCAA-59DB49A5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82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Alerting Users Who Forget to Blink</a:t>
            </a:r>
          </a:p>
        </p:txBody>
      </p:sp>
      <p:sp>
        <p:nvSpPr>
          <p:cNvPr id="3" name="slide-16-rule">
            <a:extLst xmlns:a="http://schemas.openxmlformats.org/drawingml/2006/main">
              <a:ext uri="{FF2B5EF4-FFF2-40B4-BE49-F238E27FC236}">
                <a16:creationId xmlns:a16="http://schemas.microsoft.com/office/drawing/2014/main" id="{6BD0F8E1-7E6F-48BA-BA2F-14AEC12A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bullet-86-200">
            <a:extLst xmlns:a="http://schemas.openxmlformats.org/drawingml/2006/main">
              <a:ext uri="{FF2B5EF4-FFF2-40B4-BE49-F238E27FC236}">
                <a16:creationId xmlns:a16="http://schemas.microsoft.com/office/drawing/2014/main" id="{57A78791-2FCA-48B3-90B0-DB0DED57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5" name="bullet-text-86-200">
            <a:extLst xmlns:a="http://schemas.openxmlformats.org/drawingml/2006/main">
              <a:ext uri="{FF2B5EF4-FFF2-40B4-BE49-F238E27FC236}">
                <a16:creationId xmlns:a16="http://schemas.microsoft.com/office/drawing/2014/main" id="{047FC8DA-B52F-47D6-B0A4-580DE570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app tracks time since the last detected blink.</a:t>
            </a:r>
          </a:p>
        </p:txBody>
      </p:sp>
      <p:sp>
        <p:nvSpPr>
          <p:cNvPr id="6" name="bullet-86-236">
            <a:extLst xmlns:a="http://schemas.openxmlformats.org/drawingml/2006/main">
              <a:ext uri="{FF2B5EF4-FFF2-40B4-BE49-F238E27FC236}">
                <a16:creationId xmlns:a16="http://schemas.microsoft.com/office/drawing/2014/main" id="{8815594D-F7A6-43B4-AC75-99CEC430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7" name="bullet-text-86-236">
            <a:extLst xmlns:a="http://schemas.openxmlformats.org/drawingml/2006/main">
              <a:ext uri="{FF2B5EF4-FFF2-40B4-BE49-F238E27FC236}">
                <a16:creationId xmlns:a16="http://schemas.microsoft.com/office/drawing/2014/main" id="{F3291A02-E569-43B0-8A78-17E86AD3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Warning threshold:</a:t>
            </a:r>
          </a:p>
        </p:txBody>
      </p:sp>
      <p:sp>
        <p:nvSpPr>
          <p:cNvPr id="8" name="code-panel-86-282">
            <a:extLst xmlns:a="http://schemas.openxmlformats.org/drawingml/2006/main">
              <a:ext uri="{FF2B5EF4-FFF2-40B4-BE49-F238E27FC236}">
                <a16:creationId xmlns:a16="http://schemas.microsoft.com/office/drawing/2014/main" id="{D1C8CA58-B318-41D1-96AA-CA7834FB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036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9" name="code-text-86-282">
            <a:extLst xmlns:a="http://schemas.openxmlformats.org/drawingml/2006/main">
              <a:ext uri="{FF2B5EF4-FFF2-40B4-BE49-F238E27FC236}">
                <a16:creationId xmlns:a16="http://schemas.microsoft.com/office/drawing/2014/main" id="{B623E152-A1FF-4C27-A5E4-22D0495A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1005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LONG_NO_BLINK_MS = 15000;</a:t>
            </a:r>
          </a:p>
        </p:txBody>
      </p:sp>
      <p:sp>
        <p:nvSpPr>
          <p:cNvPr id="10" name="bullet-86-352">
            <a:extLst xmlns:a="http://schemas.openxmlformats.org/drawingml/2006/main">
              <a:ext uri="{FF2B5EF4-FFF2-40B4-BE49-F238E27FC236}">
                <a16:creationId xmlns:a16="http://schemas.microsoft.com/office/drawing/2014/main" id="{CB554F9B-4949-4A81-ABB5-4B8F01B3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1" name="bullet-text-86-352">
            <a:extLst xmlns:a="http://schemas.openxmlformats.org/drawingml/2006/main">
              <a:ext uri="{FF2B5EF4-FFF2-40B4-BE49-F238E27FC236}">
                <a16:creationId xmlns:a16="http://schemas.microsoft.com/office/drawing/2014/main" id="{4357150B-98A9-45B8-AE3A-C5524059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528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If the user does not blink for over 15 seconds:</a:t>
            </a:r>
          </a:p>
        </p:txBody>
      </p:sp>
      <p:sp>
        <p:nvSpPr>
          <p:cNvPr id="12" name="bullet-86-388">
            <a:extLst xmlns:a="http://schemas.openxmlformats.org/drawingml/2006/main">
              <a:ext uri="{FF2B5EF4-FFF2-40B4-BE49-F238E27FC236}">
                <a16:creationId xmlns:a16="http://schemas.microsoft.com/office/drawing/2014/main" id="{821877E3-CD78-4D57-8ABB-E3A0FB3E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–</a:t>
            </a:r>
          </a:p>
        </p:txBody>
      </p:sp>
      <p:sp>
        <p:nvSpPr>
          <p:cNvPr id="13" name="bullet-text-86-388">
            <a:extLst xmlns:a="http://schemas.openxmlformats.org/drawingml/2006/main">
              <a:ext uri="{FF2B5EF4-FFF2-40B4-BE49-F238E27FC236}">
                <a16:creationId xmlns:a16="http://schemas.microsoft.com/office/drawing/2014/main" id="{237F8D15-0AA1-48E6-BC16-7DE1DD0B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957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Web warning is shown.</a:t>
            </a:r>
          </a:p>
        </p:txBody>
      </p:sp>
      <p:sp>
        <p:nvSpPr>
          <p:cNvPr id="14" name="bullet-86-424">
            <a:extLst xmlns:a="http://schemas.openxmlformats.org/drawingml/2006/main">
              <a:ext uri="{FF2B5EF4-FFF2-40B4-BE49-F238E27FC236}">
                <a16:creationId xmlns:a16="http://schemas.microsoft.com/office/drawing/2014/main" id="{8A54BA8B-AB36-484B-9C56-5D65DADB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386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–</a:t>
            </a:r>
          </a:p>
        </p:txBody>
      </p:sp>
      <p:sp>
        <p:nvSpPr>
          <p:cNvPr id="15" name="bullet-text-86-424">
            <a:extLst xmlns:a="http://schemas.openxmlformats.org/drawingml/2006/main">
              <a:ext uri="{FF2B5EF4-FFF2-40B4-BE49-F238E27FC236}">
                <a16:creationId xmlns:a16="http://schemas.microsoft.com/office/drawing/2014/main" id="{1D063570-7F6A-43B5-9A55-FD687CC3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386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System notification can be sent.</a:t>
            </a:r>
          </a:p>
        </p:txBody>
      </p:sp>
      <p:sp>
        <p:nvSpPr>
          <p:cNvPr id="16" name="label-Key Message-472">
            <a:extLst xmlns:a="http://schemas.openxmlformats.org/drawingml/2006/main">
              <a:ext uri="{FF2B5EF4-FFF2-40B4-BE49-F238E27FC236}">
                <a16:creationId xmlns:a16="http://schemas.microsoft.com/office/drawing/2014/main" id="{16316171-D6B5-4314-84B6-3A5AECD3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Key Message:</a:t>
            </a:r>
          </a:p>
        </p:txBody>
      </p:sp>
      <p:sp>
        <p:nvSpPr>
          <p:cNvPr id="17" name="text-506">
            <a:extLst xmlns:a="http://schemas.openxmlformats.org/drawingml/2006/main">
              <a:ext uri="{FF2B5EF4-FFF2-40B4-BE49-F238E27FC236}">
                <a16:creationId xmlns:a16="http://schemas.microsoft.com/office/drawing/2014/main" id="{E2883308-11C7-44B0-AFB1-A3142434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1036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This feature targets users who stare at the screen during long focus sessions.</a:t>
            </a:r>
          </a:p>
        </p:txBody>
      </p:sp>
    </p:spTree>
    <p:extLst>
      <p:ext uri="{BB962C8B-B14F-4D97-AF65-F5344CB8AC3E}">
        <p14:creationId xmlns:p14="http://schemas.microsoft.com/office/powerpoint/2010/main" val="7965512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7-section">
            <a:extLst xmlns:a="http://schemas.openxmlformats.org/drawingml/2006/main">
              <a:ext uri="{FF2B5EF4-FFF2-40B4-BE49-F238E27FC236}">
                <a16:creationId xmlns:a16="http://schemas.microsoft.com/office/drawing/2014/main" id="{175ADC86-4296-4E05-BB20-FEE98771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Slide 17: Drowsiness Warning</a:t>
            </a:r>
          </a:p>
        </p:txBody>
      </p:sp>
      <p:sp>
        <p:nvSpPr>
          <p:cNvPr id="2" name="slide-17-title">
            <a:extLst xmlns:a="http://schemas.openxmlformats.org/drawingml/2006/main">
              <a:ext uri="{FF2B5EF4-FFF2-40B4-BE49-F238E27FC236}">
                <a16:creationId xmlns:a16="http://schemas.microsoft.com/office/drawing/2014/main" id="{9A411056-B761-454B-9520-E6766649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82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Detecting Long Eye Closure</a:t>
            </a:r>
          </a:p>
        </p:txBody>
      </p:sp>
      <p:sp>
        <p:nvSpPr>
          <p:cNvPr id="3" name="slide-17-rule">
            <a:extLst xmlns:a="http://schemas.openxmlformats.org/drawingml/2006/main">
              <a:ext uri="{FF2B5EF4-FFF2-40B4-BE49-F238E27FC236}">
                <a16:creationId xmlns:a16="http://schemas.microsoft.com/office/drawing/2014/main" id="{07395D22-2733-4735-A86E-70C9AB83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bullet-86-200">
            <a:extLst xmlns:a="http://schemas.openxmlformats.org/drawingml/2006/main">
              <a:ext uri="{FF2B5EF4-FFF2-40B4-BE49-F238E27FC236}">
                <a16:creationId xmlns:a16="http://schemas.microsoft.com/office/drawing/2014/main" id="{5336E8E0-1671-41DF-88C4-4EBD6AE3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5" name="bullet-text-86-200">
            <a:extLst xmlns:a="http://schemas.openxmlformats.org/drawingml/2006/main">
              <a:ext uri="{FF2B5EF4-FFF2-40B4-BE49-F238E27FC236}">
                <a16:creationId xmlns:a16="http://schemas.microsoft.com/office/drawing/2014/main" id="{1A30A7C8-3CD8-4EFC-ACC4-82A1E3F9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SVM predicts class 2 for sleep / long closure.</a:t>
            </a:r>
          </a:p>
        </p:txBody>
      </p:sp>
      <p:sp>
        <p:nvSpPr>
          <p:cNvPr id="6" name="bullet-86-236">
            <a:extLst xmlns:a="http://schemas.openxmlformats.org/drawingml/2006/main">
              <a:ext uri="{FF2B5EF4-FFF2-40B4-BE49-F238E27FC236}">
                <a16:creationId xmlns:a16="http://schemas.microsoft.com/office/drawing/2014/main" id="{E07BB18E-D5E1-41F0-B721-C69A03D6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7" name="bullet-text-86-236">
            <a:extLst xmlns:a="http://schemas.openxmlformats.org/drawingml/2006/main">
              <a:ext uri="{FF2B5EF4-FFF2-40B4-BE49-F238E27FC236}">
                <a16:creationId xmlns:a16="http://schemas.microsoft.com/office/drawing/2014/main" id="{38FA8B4D-C368-4FCB-B192-F9E7BF86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app uses temporal smoothing:</a:t>
            </a:r>
          </a:p>
        </p:txBody>
      </p:sp>
      <p:sp>
        <p:nvSpPr>
          <p:cNvPr id="8" name="code-panel-86-282">
            <a:extLst xmlns:a="http://schemas.openxmlformats.org/drawingml/2006/main">
              <a:ext uri="{FF2B5EF4-FFF2-40B4-BE49-F238E27FC236}">
                <a16:creationId xmlns:a16="http://schemas.microsoft.com/office/drawing/2014/main" id="{62C97466-D1A0-4540-BA31-FCCC2C68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0363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9" name="code-text-86-282">
            <a:extLst xmlns:a="http://schemas.openxmlformats.org/drawingml/2006/main">
              <a:ext uri="{FF2B5EF4-FFF2-40B4-BE49-F238E27FC236}">
                <a16:creationId xmlns:a16="http://schemas.microsoft.com/office/drawing/2014/main" id="{44E03609-F8B7-4662-BAF2-E040AE3C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1005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DROWSY_HISTORY_SIZE = 15;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DROWSY_VOTES_REQUIRED = 10;</a:t>
            </a:r>
          </a:p>
        </p:txBody>
      </p:sp>
      <p:sp>
        <p:nvSpPr>
          <p:cNvPr id="10" name="bullet-86-388">
            <a:extLst xmlns:a="http://schemas.openxmlformats.org/drawingml/2006/main">
              <a:ext uri="{FF2B5EF4-FFF2-40B4-BE49-F238E27FC236}">
                <a16:creationId xmlns:a16="http://schemas.microsoft.com/office/drawing/2014/main" id="{B9A37D49-9D03-4214-9B0A-1FF186E8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1" name="bullet-text-86-388">
            <a:extLst xmlns:a="http://schemas.openxmlformats.org/drawingml/2006/main">
              <a:ext uri="{FF2B5EF4-FFF2-40B4-BE49-F238E27FC236}">
                <a16:creationId xmlns:a16="http://schemas.microsoft.com/office/drawing/2014/main" id="{850E3545-FAB6-4F55-9A33-164729B3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If enough recent predictions are class 2, the app triggers a drowsiness warning.</a:t>
            </a:r>
          </a:p>
        </p:txBody>
      </p:sp>
      <p:sp>
        <p:nvSpPr>
          <p:cNvPr id="12" name="bullet-86-424">
            <a:extLst xmlns:a="http://schemas.openxmlformats.org/drawingml/2006/main">
              <a:ext uri="{FF2B5EF4-FFF2-40B4-BE49-F238E27FC236}">
                <a16:creationId xmlns:a16="http://schemas.microsoft.com/office/drawing/2014/main" id="{0B234BD8-1629-433A-B72F-DC684BB7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3" name="bullet-text-86-424">
            <a:extLst xmlns:a="http://schemas.openxmlformats.org/drawingml/2006/main">
              <a:ext uri="{FF2B5EF4-FFF2-40B4-BE49-F238E27FC236}">
                <a16:creationId xmlns:a16="http://schemas.microsoft.com/office/drawing/2014/main" id="{1E4675A3-9F0A-4BBD-9F3D-9E9FF3B1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386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Drowsy events are counted in the dashboard.</a:t>
            </a:r>
          </a:p>
        </p:txBody>
      </p:sp>
    </p:spTree>
    <p:extLst>
      <p:ext uri="{BB962C8B-B14F-4D97-AF65-F5344CB8AC3E}">
        <p14:creationId xmlns:p14="http://schemas.microsoft.com/office/powerpoint/2010/main" val="10898369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8-section">
            <a:extLst xmlns:a="http://schemas.openxmlformats.org/drawingml/2006/main">
              <a:ext uri="{FF2B5EF4-FFF2-40B4-BE49-F238E27FC236}">
                <a16:creationId xmlns:a16="http://schemas.microsoft.com/office/drawing/2014/main" id="{28B9D00E-F9CE-4915-9F20-11FC55D7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Slide 18: System Notifications</a:t>
            </a:r>
          </a:p>
        </p:txBody>
      </p:sp>
      <p:sp>
        <p:nvSpPr>
          <p:cNvPr id="2" name="slide-18-title">
            <a:extLst xmlns:a="http://schemas.openxmlformats.org/drawingml/2006/main">
              <a:ext uri="{FF2B5EF4-FFF2-40B4-BE49-F238E27FC236}">
                <a16:creationId xmlns:a16="http://schemas.microsoft.com/office/drawing/2014/main" id="{3F01935F-1263-4CF3-8D15-EEDFD2AD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82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Alerts Outside the Web Page</a:t>
            </a:r>
          </a:p>
        </p:txBody>
      </p:sp>
      <p:sp>
        <p:nvSpPr>
          <p:cNvPr id="3" name="slide-18-rule">
            <a:extLst xmlns:a="http://schemas.openxmlformats.org/drawingml/2006/main">
              <a:ext uri="{FF2B5EF4-FFF2-40B4-BE49-F238E27FC236}">
                <a16:creationId xmlns:a16="http://schemas.microsoft.com/office/drawing/2014/main" id="{57B58247-5BDF-463F-9E39-DAE4DD5D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bullet-86-200">
            <a:extLst xmlns:a="http://schemas.openxmlformats.org/drawingml/2006/main">
              <a:ext uri="{FF2B5EF4-FFF2-40B4-BE49-F238E27FC236}">
                <a16:creationId xmlns:a16="http://schemas.microsoft.com/office/drawing/2014/main" id="{0E61EBFB-8A74-49DF-80EC-A2C22549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5" name="bullet-text-86-200">
            <a:extLst xmlns:a="http://schemas.openxmlformats.org/drawingml/2006/main">
              <a:ext uri="{FF2B5EF4-FFF2-40B4-BE49-F238E27FC236}">
                <a16:creationId xmlns:a16="http://schemas.microsoft.com/office/drawing/2014/main" id="{9AD33A45-8166-4855-80DC-75B9841A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Uses the Browser Notification API.</a:t>
            </a:r>
          </a:p>
        </p:txBody>
      </p:sp>
      <p:sp>
        <p:nvSpPr>
          <p:cNvPr id="6" name="bullet-86-236">
            <a:extLst xmlns:a="http://schemas.openxmlformats.org/drawingml/2006/main">
              <a:ext uri="{FF2B5EF4-FFF2-40B4-BE49-F238E27FC236}">
                <a16:creationId xmlns:a16="http://schemas.microsoft.com/office/drawing/2014/main" id="{F44C113D-01D5-4E73-8B65-E7E1556A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7" name="bullet-text-86-236">
            <a:extLst xmlns:a="http://schemas.openxmlformats.org/drawingml/2006/main">
              <a:ext uri="{FF2B5EF4-FFF2-40B4-BE49-F238E27FC236}">
                <a16:creationId xmlns:a16="http://schemas.microsoft.com/office/drawing/2014/main" id="{37EC38A1-071D-41F7-AF94-3DE3140C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User enables alerts with Enable Notifications.</a:t>
            </a:r>
          </a:p>
        </p:txBody>
      </p:sp>
      <p:sp>
        <p:nvSpPr>
          <p:cNvPr id="8" name="bullet-86-272">
            <a:extLst xmlns:a="http://schemas.openxmlformats.org/drawingml/2006/main">
              <a:ext uri="{FF2B5EF4-FFF2-40B4-BE49-F238E27FC236}">
                <a16:creationId xmlns:a16="http://schemas.microsoft.com/office/drawing/2014/main" id="{3A4C06E1-755E-403F-83D0-B824A011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9" name="bullet-text-86-272">
            <a:extLst xmlns:a="http://schemas.openxmlformats.org/drawingml/2006/main">
              <a:ext uri="{FF2B5EF4-FFF2-40B4-BE49-F238E27FC236}">
                <a16:creationId xmlns:a16="http://schemas.microsoft.com/office/drawing/2014/main" id="{7A890E81-51C9-4CB8-8001-CB75B060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Notifications can be sent for:</a:t>
            </a:r>
          </a:p>
        </p:txBody>
      </p:sp>
      <p:sp>
        <p:nvSpPr>
          <p:cNvPr id="10" name="bullet-86-308">
            <a:extLst xmlns:a="http://schemas.openxmlformats.org/drawingml/2006/main">
              <a:ext uri="{FF2B5EF4-FFF2-40B4-BE49-F238E27FC236}">
                <a16:creationId xmlns:a16="http://schemas.microsoft.com/office/drawing/2014/main" id="{3FA04583-26AC-4B5D-8566-B06B4F1B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–</a:t>
            </a:r>
          </a:p>
        </p:txBody>
      </p:sp>
      <p:sp>
        <p:nvSpPr>
          <p:cNvPr id="11" name="bullet-text-86-308">
            <a:extLst xmlns:a="http://schemas.openxmlformats.org/drawingml/2006/main">
              <a:ext uri="{FF2B5EF4-FFF2-40B4-BE49-F238E27FC236}">
                <a16:creationId xmlns:a16="http://schemas.microsoft.com/office/drawing/2014/main" id="{9C35BEDA-A7E8-41DB-BC7F-53ABE87A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337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Long no-blink streak</a:t>
            </a:r>
          </a:p>
        </p:txBody>
      </p:sp>
      <p:sp>
        <p:nvSpPr>
          <p:cNvPr id="12" name="bullet-86-344">
            <a:extLst xmlns:a="http://schemas.openxmlformats.org/drawingml/2006/main">
              <a:ext uri="{FF2B5EF4-FFF2-40B4-BE49-F238E27FC236}">
                <a16:creationId xmlns:a16="http://schemas.microsoft.com/office/drawing/2014/main" id="{2586FCC0-ECD0-422C-8B8D-E58FD9E4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–</a:t>
            </a:r>
          </a:p>
        </p:txBody>
      </p:sp>
      <p:sp>
        <p:nvSpPr>
          <p:cNvPr id="13" name="bullet-text-86-344">
            <a:extLst xmlns:a="http://schemas.openxmlformats.org/drawingml/2006/main">
              <a:ext uri="{FF2B5EF4-FFF2-40B4-BE49-F238E27FC236}">
                <a16:creationId xmlns:a16="http://schemas.microsoft.com/office/drawing/2014/main" id="{F5EF5DA3-B20A-48C5-BD11-97E00B8D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766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Low blink rate</a:t>
            </a:r>
          </a:p>
        </p:txBody>
      </p:sp>
      <p:sp>
        <p:nvSpPr>
          <p:cNvPr id="14" name="bullet-86-380">
            <a:extLst xmlns:a="http://schemas.openxmlformats.org/drawingml/2006/main">
              <a:ext uri="{FF2B5EF4-FFF2-40B4-BE49-F238E27FC236}">
                <a16:creationId xmlns:a16="http://schemas.microsoft.com/office/drawing/2014/main" id="{82C68C18-C520-4DF4-9585-F43331DB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195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–</a:t>
            </a:r>
          </a:p>
        </p:txBody>
      </p:sp>
      <p:sp>
        <p:nvSpPr>
          <p:cNvPr id="15" name="bullet-text-86-380">
            <a:extLst xmlns:a="http://schemas.openxmlformats.org/drawingml/2006/main">
              <a:ext uri="{FF2B5EF4-FFF2-40B4-BE49-F238E27FC236}">
                <a16:creationId xmlns:a16="http://schemas.microsoft.com/office/drawing/2014/main" id="{6A1C6B62-2A3E-453D-9736-91DAADF6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195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Drowsiness warning</a:t>
            </a:r>
          </a:p>
        </p:txBody>
      </p:sp>
      <p:sp>
        <p:nvSpPr>
          <p:cNvPr id="16" name="bullet-86-416">
            <a:extLst xmlns:a="http://schemas.openxmlformats.org/drawingml/2006/main">
              <a:ext uri="{FF2B5EF4-FFF2-40B4-BE49-F238E27FC236}">
                <a16:creationId xmlns:a16="http://schemas.microsoft.com/office/drawing/2014/main" id="{9A7D38DF-68B3-42B8-94AF-E27D4E77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7" name="bullet-text-86-416">
            <a:extLst xmlns:a="http://schemas.openxmlformats.org/drawingml/2006/main">
              <a:ext uri="{FF2B5EF4-FFF2-40B4-BE49-F238E27FC236}">
                <a16:creationId xmlns:a16="http://schemas.microsoft.com/office/drawing/2014/main" id="{6AAAB182-4D10-4C2D-B978-E5FEE61C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624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Cooldown prevents spam:</a:t>
            </a:r>
          </a:p>
        </p:txBody>
      </p:sp>
      <p:sp>
        <p:nvSpPr>
          <p:cNvPr id="18" name="code-panel-86-462">
            <a:extLst xmlns:a="http://schemas.openxmlformats.org/drawingml/2006/main">
              <a:ext uri="{FF2B5EF4-FFF2-40B4-BE49-F238E27FC236}">
                <a16:creationId xmlns:a16="http://schemas.microsoft.com/office/drawing/2014/main" id="{D53AF404-353D-4245-B035-A2B587DE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1036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9" name="code-text-86-462">
            <a:extLst xmlns:a="http://schemas.openxmlformats.org/drawingml/2006/main">
              <a:ext uri="{FF2B5EF4-FFF2-40B4-BE49-F238E27FC236}">
                <a16:creationId xmlns:a16="http://schemas.microsoft.com/office/drawing/2014/main" id="{201C1ACF-9449-43E9-8934-4E05BE2F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95800"/>
            <a:ext cx="1005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NOTIFICATION_COOLDOWN_MS = 60000;</a:t>
            </a:r>
          </a:p>
        </p:txBody>
      </p:sp>
      <p:sp>
        <p:nvSpPr>
          <p:cNvPr id="20" name="label-Example Notification-534">
            <a:extLst xmlns:a="http://schemas.openxmlformats.org/drawingml/2006/main">
              <a:ext uri="{FF2B5EF4-FFF2-40B4-BE49-F238E27FC236}">
                <a16:creationId xmlns:a16="http://schemas.microsoft.com/office/drawing/2014/main" id="{9A44FAD1-08C2-4E20-85F7-857E614B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Example Notification:</a:t>
            </a:r>
          </a:p>
        </p:txBody>
      </p:sp>
      <p:sp>
        <p:nvSpPr>
          <p:cNvPr id="21" name="text-568">
            <a:extLst xmlns:a="http://schemas.openxmlformats.org/drawingml/2006/main">
              <a:ext uri="{FF2B5EF4-FFF2-40B4-BE49-F238E27FC236}">
                <a16:creationId xmlns:a16="http://schemas.microsoft.com/office/drawing/2014/main" id="{6BFEC5C8-5230-41D1-83D9-5A036850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1036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“You have not blinked for X seconds. Blink a few times and look away from the screen.”</a:t>
            </a:r>
          </a:p>
        </p:txBody>
      </p:sp>
    </p:spTree>
    <p:extLst>
      <p:ext uri="{BB962C8B-B14F-4D97-AF65-F5344CB8AC3E}">
        <p14:creationId xmlns:p14="http://schemas.microsoft.com/office/powerpoint/2010/main" val="9239515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9-section">
            <a:extLst xmlns:a="http://schemas.openxmlformats.org/drawingml/2006/main">
              <a:ext uri="{FF2B5EF4-FFF2-40B4-BE49-F238E27FC236}">
                <a16:creationId xmlns:a16="http://schemas.microsoft.com/office/drawing/2014/main" id="{C2B02FC9-6FF4-467B-8F01-D6A499E1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Slide 19: Deployment on Cloudflare Pages</a:t>
            </a:r>
          </a:p>
        </p:txBody>
      </p:sp>
      <p:sp>
        <p:nvSpPr>
          <p:cNvPr id="2" name="slide-19-title">
            <a:extLst xmlns:a="http://schemas.openxmlformats.org/drawingml/2006/main">
              <a:ext uri="{FF2B5EF4-FFF2-40B4-BE49-F238E27FC236}">
                <a16:creationId xmlns:a16="http://schemas.microsoft.com/office/drawing/2014/main" id="{7063639F-7FB7-429A-BF01-F57ECA38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82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Static Hosting with Cloudflare Pages</a:t>
            </a:r>
          </a:p>
        </p:txBody>
      </p:sp>
      <p:sp>
        <p:nvSpPr>
          <p:cNvPr id="3" name="slide-19-rule">
            <a:extLst xmlns:a="http://schemas.openxmlformats.org/drawingml/2006/main">
              <a:ext uri="{FF2B5EF4-FFF2-40B4-BE49-F238E27FC236}">
                <a16:creationId xmlns:a16="http://schemas.microsoft.com/office/drawing/2014/main" id="{D0CF8FCB-0BFB-4B49-8808-966611CD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bullet-86-200">
            <a:extLst xmlns:a="http://schemas.openxmlformats.org/drawingml/2006/main">
              <a:ext uri="{FF2B5EF4-FFF2-40B4-BE49-F238E27FC236}">
                <a16:creationId xmlns:a16="http://schemas.microsoft.com/office/drawing/2014/main" id="{961C5C6D-06AC-44CA-8871-D6F6572A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5" name="bullet-text-86-200">
            <a:extLst xmlns:a="http://schemas.openxmlformats.org/drawingml/2006/main">
              <a:ext uri="{FF2B5EF4-FFF2-40B4-BE49-F238E27FC236}">
                <a16:creationId xmlns:a16="http://schemas.microsoft.com/office/drawing/2014/main" id="{30CFA4DE-A50D-4AC3-B3F7-01FEA387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 backend server required.</a:t>
            </a:r>
          </a:p>
        </p:txBody>
      </p:sp>
      <p:sp>
        <p:nvSpPr>
          <p:cNvPr id="6" name="bullet-86-236">
            <a:extLst xmlns:a="http://schemas.openxmlformats.org/drawingml/2006/main">
              <a:ext uri="{FF2B5EF4-FFF2-40B4-BE49-F238E27FC236}">
                <a16:creationId xmlns:a16="http://schemas.microsoft.com/office/drawing/2014/main" id="{E7F72240-7C73-4032-8F41-B9DA9B6A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7" name="bullet-text-86-236">
            <a:extLst xmlns:a="http://schemas.openxmlformats.org/drawingml/2006/main">
              <a:ext uri="{FF2B5EF4-FFF2-40B4-BE49-F238E27FC236}">
                <a16:creationId xmlns:a16="http://schemas.microsoft.com/office/drawing/2014/main" id="{F5E4BDCE-DB7C-4F2A-87FB-A6BB73F6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 build command required.</a:t>
            </a:r>
          </a:p>
        </p:txBody>
      </p:sp>
      <p:sp>
        <p:nvSpPr>
          <p:cNvPr id="8" name="bullet-86-272">
            <a:extLst xmlns:a="http://schemas.openxmlformats.org/drawingml/2006/main">
              <a:ext uri="{FF2B5EF4-FFF2-40B4-BE49-F238E27FC236}">
                <a16:creationId xmlns:a16="http://schemas.microsoft.com/office/drawing/2014/main" id="{56F7AD99-AF60-4353-880E-3828CE26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9" name="bullet-text-86-272">
            <a:extLst xmlns:a="http://schemas.openxmlformats.org/drawingml/2006/main">
              <a:ext uri="{FF2B5EF4-FFF2-40B4-BE49-F238E27FC236}">
                <a16:creationId xmlns:a16="http://schemas.microsoft.com/office/drawing/2014/main" id="{B935B9DF-A781-4041-959C-2F678063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Output directory:</a:t>
            </a:r>
          </a:p>
        </p:txBody>
      </p:sp>
      <p:sp>
        <p:nvSpPr>
          <p:cNvPr id="10" name="code-panel-86-318">
            <a:extLst xmlns:a="http://schemas.openxmlformats.org/drawingml/2006/main">
              <a:ext uri="{FF2B5EF4-FFF2-40B4-BE49-F238E27FC236}">
                <a16:creationId xmlns:a16="http://schemas.microsoft.com/office/drawing/2014/main" id="{F2EF2405-7753-4570-8623-8E1A769D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036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1" name="code-text-86-318">
            <a:extLst xmlns:a="http://schemas.openxmlformats.org/drawingml/2006/main">
              <a:ext uri="{FF2B5EF4-FFF2-40B4-BE49-F238E27FC236}">
                <a16:creationId xmlns:a16="http://schemas.microsoft.com/office/drawing/2014/main" id="{CE8B4E65-8176-4D57-A5B5-BCCA11DF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1005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deployment/scripts</a:t>
            </a:r>
          </a:p>
        </p:txBody>
      </p:sp>
      <p:sp>
        <p:nvSpPr>
          <p:cNvPr id="12" name="bullet-86-388">
            <a:extLst xmlns:a="http://schemas.openxmlformats.org/drawingml/2006/main">
              <a:ext uri="{FF2B5EF4-FFF2-40B4-BE49-F238E27FC236}">
                <a16:creationId xmlns:a16="http://schemas.microsoft.com/office/drawing/2014/main" id="{6F635C60-6358-4F2D-8C7F-C13788B5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3" name="bullet-text-86-388">
            <a:extLst xmlns:a="http://schemas.openxmlformats.org/drawingml/2006/main">
              <a:ext uri="{FF2B5EF4-FFF2-40B4-BE49-F238E27FC236}">
                <a16:creationId xmlns:a16="http://schemas.microsoft.com/office/drawing/2014/main" id="{CBD3CC55-09B0-470F-B21A-CBABA4F0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Cloudflare provides HTTPS by default.</a:t>
            </a:r>
          </a:p>
        </p:txBody>
      </p:sp>
      <p:sp>
        <p:nvSpPr>
          <p:cNvPr id="14" name="bullet-86-424">
            <a:extLst xmlns:a="http://schemas.openxmlformats.org/drawingml/2006/main">
              <a:ext uri="{FF2B5EF4-FFF2-40B4-BE49-F238E27FC236}">
                <a16:creationId xmlns:a16="http://schemas.microsoft.com/office/drawing/2014/main" id="{F4D1C25E-5D3C-47DA-8394-976543D5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5" name="bullet-text-86-424">
            <a:extLst xmlns:a="http://schemas.openxmlformats.org/drawingml/2006/main">
              <a:ext uri="{FF2B5EF4-FFF2-40B4-BE49-F238E27FC236}">
                <a16:creationId xmlns:a16="http://schemas.microsoft.com/office/drawing/2014/main" id="{BA4364BD-F0E9-453E-AE67-9ACE1918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386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HTTPS is required for webcam and notification APIs outside localhost.</a:t>
            </a:r>
          </a:p>
        </p:txBody>
      </p:sp>
      <p:sp>
        <p:nvSpPr>
          <p:cNvPr id="16" name="label-Key Message-472">
            <a:extLst xmlns:a="http://schemas.openxmlformats.org/drawingml/2006/main">
              <a:ext uri="{FF2B5EF4-FFF2-40B4-BE49-F238E27FC236}">
                <a16:creationId xmlns:a16="http://schemas.microsoft.com/office/drawing/2014/main" id="{C15CC88E-CFD2-4889-AB72-9B6A906E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Key Message:</a:t>
            </a:r>
          </a:p>
        </p:txBody>
      </p:sp>
      <p:sp>
        <p:nvSpPr>
          <p:cNvPr id="17" name="text-506">
            <a:extLst xmlns:a="http://schemas.openxmlformats.org/drawingml/2006/main">
              <a:ext uri="{FF2B5EF4-FFF2-40B4-BE49-F238E27FC236}">
                <a16:creationId xmlns:a16="http://schemas.microsoft.com/office/drawing/2014/main" id="{B265AF0B-9415-410D-9457-48733858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1036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BlinkGuard can be deployed as a free or low-cost static web app.</a:t>
            </a:r>
          </a:p>
        </p:txBody>
      </p:sp>
    </p:spTree>
    <p:extLst>
      <p:ext uri="{BB962C8B-B14F-4D97-AF65-F5344CB8AC3E}">
        <p14:creationId xmlns:p14="http://schemas.microsoft.com/office/powerpoint/2010/main" val="164740176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0-section">
            <a:extLst xmlns:a="http://schemas.openxmlformats.org/drawingml/2006/main">
              <a:ext uri="{FF2B5EF4-FFF2-40B4-BE49-F238E27FC236}">
                <a16:creationId xmlns:a16="http://schemas.microsoft.com/office/drawing/2014/main" id="{7E6CE41F-2FB0-45C4-8FA2-442A14DB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Slide 20: Deployment Summary</a:t>
            </a:r>
          </a:p>
        </p:txBody>
      </p:sp>
      <p:sp>
        <p:nvSpPr>
          <p:cNvPr id="2" name="slide-20-title">
            <a:extLst xmlns:a="http://schemas.openxmlformats.org/drawingml/2006/main">
              <a:ext uri="{FF2B5EF4-FFF2-40B4-BE49-F238E27FC236}">
                <a16:creationId xmlns:a16="http://schemas.microsoft.com/office/drawing/2014/main" id="{1FC0E806-5F7C-44F9-9DF8-90530081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82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Final Deployment Outcome</a:t>
            </a:r>
          </a:p>
        </p:txBody>
      </p:sp>
      <p:sp>
        <p:nvSpPr>
          <p:cNvPr id="3" name="slide-20-rule">
            <a:extLst xmlns:a="http://schemas.openxmlformats.org/drawingml/2006/main">
              <a:ext uri="{FF2B5EF4-FFF2-40B4-BE49-F238E27FC236}">
                <a16:creationId xmlns:a16="http://schemas.microsoft.com/office/drawing/2014/main" id="{D8AC7B02-5DF7-47A6-8EBE-201E1F90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bullet-86-200">
            <a:extLst xmlns:a="http://schemas.openxmlformats.org/drawingml/2006/main">
              <a:ext uri="{FF2B5EF4-FFF2-40B4-BE49-F238E27FC236}">
                <a16:creationId xmlns:a16="http://schemas.microsoft.com/office/drawing/2014/main" id="{CDB16B71-E9B1-471B-A5F4-86E09790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5" name="bullet-text-86-200">
            <a:extLst xmlns:a="http://schemas.openxmlformats.org/drawingml/2006/main">
              <a:ext uri="{FF2B5EF4-FFF2-40B4-BE49-F238E27FC236}">
                <a16:creationId xmlns:a16="http://schemas.microsoft.com/office/drawing/2014/main" id="{FD1B87E5-7F4D-419B-9867-80ACA99E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Python SVM model was converted to pure JavaScript.</a:t>
            </a:r>
          </a:p>
        </p:txBody>
      </p:sp>
      <p:sp>
        <p:nvSpPr>
          <p:cNvPr id="6" name="bullet-86-236">
            <a:extLst xmlns:a="http://schemas.openxmlformats.org/drawingml/2006/main">
              <a:ext uri="{FF2B5EF4-FFF2-40B4-BE49-F238E27FC236}">
                <a16:creationId xmlns:a16="http://schemas.microsoft.com/office/drawing/2014/main" id="{0A8E1409-6C63-4DF4-B129-F740B38C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7" name="bullet-text-86-236">
            <a:extLst xmlns:a="http://schemas.openxmlformats.org/drawingml/2006/main">
              <a:ext uri="{FF2B5EF4-FFF2-40B4-BE49-F238E27FC236}">
                <a16:creationId xmlns:a16="http://schemas.microsoft.com/office/drawing/2014/main" id="{14B477A3-C17C-41B9-89CF-31E2E95D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MediaPipe JS handles real-time face and eye tracking.</a:t>
            </a:r>
          </a:p>
        </p:txBody>
      </p:sp>
      <p:sp>
        <p:nvSpPr>
          <p:cNvPr id="8" name="bullet-86-272">
            <a:extLst xmlns:a="http://schemas.openxmlformats.org/drawingml/2006/main">
              <a:ext uri="{FF2B5EF4-FFF2-40B4-BE49-F238E27FC236}">
                <a16:creationId xmlns:a16="http://schemas.microsoft.com/office/drawing/2014/main" id="{18BD3CE5-5932-4E27-9C04-78ED1FF4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9" name="bullet-text-86-272">
            <a:extLst xmlns:a="http://schemas.openxmlformats.org/drawingml/2006/main">
              <a:ext uri="{FF2B5EF4-FFF2-40B4-BE49-F238E27FC236}">
                <a16:creationId xmlns:a16="http://schemas.microsoft.com/office/drawing/2014/main" id="{4B83E9E7-0DF5-477C-BE4B-3C35AC9C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EAR-based TimeSeries logic runs fully in the browser.</a:t>
            </a:r>
          </a:p>
        </p:txBody>
      </p:sp>
      <p:sp>
        <p:nvSpPr>
          <p:cNvPr id="10" name="bullet-86-308">
            <a:extLst xmlns:a="http://schemas.openxmlformats.org/drawingml/2006/main">
              <a:ext uri="{FF2B5EF4-FFF2-40B4-BE49-F238E27FC236}">
                <a16:creationId xmlns:a16="http://schemas.microsoft.com/office/drawing/2014/main" id="{BE8C3B25-99C2-412F-930C-FCEE8F0E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1" name="bullet-text-86-308">
            <a:extLst xmlns:a="http://schemas.openxmlformats.org/drawingml/2006/main">
              <a:ext uri="{FF2B5EF4-FFF2-40B4-BE49-F238E27FC236}">
                <a16:creationId xmlns:a16="http://schemas.microsoft.com/office/drawing/2014/main" id="{E8F02A2E-7965-4D24-A035-724B05EA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BlinkGuard monitors blinking behavior and drowsiness.</a:t>
            </a:r>
          </a:p>
        </p:txBody>
      </p:sp>
      <p:sp>
        <p:nvSpPr>
          <p:cNvPr id="12" name="bullet-86-344">
            <a:extLst xmlns:a="http://schemas.openxmlformats.org/drawingml/2006/main">
              <a:ext uri="{FF2B5EF4-FFF2-40B4-BE49-F238E27FC236}">
                <a16:creationId xmlns:a16="http://schemas.microsoft.com/office/drawing/2014/main" id="{11A5F175-0D13-41CE-B8E7-95BCB57D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3" name="bullet-text-86-344">
            <a:extLst xmlns:a="http://schemas.openxmlformats.org/drawingml/2006/main">
              <a:ext uri="{FF2B5EF4-FFF2-40B4-BE49-F238E27FC236}">
                <a16:creationId xmlns:a16="http://schemas.microsoft.com/office/drawing/2014/main" id="{E3CA1D6C-1395-4F69-859D-B3F77E5B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System notifications extend alerts beyond the web UI.</a:t>
            </a:r>
          </a:p>
        </p:txBody>
      </p:sp>
      <p:sp>
        <p:nvSpPr>
          <p:cNvPr id="14" name="bullet-86-380">
            <a:extLst xmlns:a="http://schemas.openxmlformats.org/drawingml/2006/main">
              <a:ext uri="{FF2B5EF4-FFF2-40B4-BE49-F238E27FC236}">
                <a16:creationId xmlns:a16="http://schemas.microsoft.com/office/drawing/2014/main" id="{40FE4D3E-8861-4FA1-8EB0-910C24F3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9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5" name="bullet-text-86-380">
            <a:extLst xmlns:a="http://schemas.openxmlformats.org/drawingml/2006/main">
              <a:ext uri="{FF2B5EF4-FFF2-40B4-BE49-F238E27FC236}">
                <a16:creationId xmlns:a16="http://schemas.microsoft.com/office/drawing/2014/main" id="{C729831B-F794-42EE-93E9-3C60462B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195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app is ready for static hosting on Cloudflare Pages.</a:t>
            </a:r>
          </a:p>
        </p:txBody>
      </p:sp>
      <p:sp>
        <p:nvSpPr>
          <p:cNvPr id="16" name="label-Closing Message-428">
            <a:extLst xmlns:a="http://schemas.openxmlformats.org/drawingml/2006/main">
              <a:ext uri="{FF2B5EF4-FFF2-40B4-BE49-F238E27FC236}">
                <a16:creationId xmlns:a16="http://schemas.microsoft.com/office/drawing/2014/main" id="{C3F64E7E-EEB5-4DC3-992D-2B46C25A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F6F6A"/>
                </a:solidFill>
                <a:latin typeface="Helvetica Neue"/>
                <a:ea typeface="Helvetica Neue"/>
                <a:cs typeface="Helvetica Neue"/>
              </a:rPr>
              <a:t>Closing Message:</a:t>
            </a:r>
          </a:p>
        </p:txBody>
      </p:sp>
      <p:sp>
        <p:nvSpPr>
          <p:cNvPr id="17" name="text-462">
            <a:extLst xmlns:a="http://schemas.openxmlformats.org/drawingml/2006/main">
              <a:ext uri="{FF2B5EF4-FFF2-40B4-BE49-F238E27FC236}">
                <a16:creationId xmlns:a16="http://schemas.microsoft.com/office/drawing/2014/main" id="{45543117-A439-4C90-99EF-E2E4F2D2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1036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>
            <a:normAutofit fontScale="98485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BlinkGuard demonstrates how a lightweight ML model can become a privacy-friendly, real-time web application without server-side inference.</a:t>
            </a:r>
          </a:p>
        </p:txBody>
      </p:sp>
    </p:spTree>
    <p:extLst>
      <p:ext uri="{BB962C8B-B14F-4D97-AF65-F5344CB8AC3E}">
        <p14:creationId xmlns:p14="http://schemas.microsoft.com/office/powerpoint/2010/main" val="2122717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2026-07-13T17:05:00.2740000Z</dcterms:created>
  <dcterms:modified xsi:type="dcterms:W3CDTF">2026-07-13T17:05:00.2740000Z</dcterms:modified>
</coreProperties>
</file>